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657600"/>
            <a:ext cx="8686800" cy="36576"/>
          </a:xfrm>
          <a:prstGeom prst="rect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Deep Learning vs Gradient Boosting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34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8963E"/>
                </a:solidFill>
                <a:latin typeface="Calibri"/>
              </a:rPr>
              <a:t>UK Motor Net Premium — Model Architecture Comparison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86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  <a:latin typeface="Calibri"/>
              </a:rPr>
              <a:t>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  Executive Summary</a:t>
            </a:r>
          </a:p>
          <a:p>
            <a:pPr algn="l"/>
            <a:r>
              <a:rPr sz="1300" b="0">
                <a:solidFill>
                  <a:srgbClr val="CCD6E8"/>
                </a:solidFill>
                <a:latin typeface="Calibri"/>
              </a:rPr>
              <a:t>  UK Motor Net Premium Model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6035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2606040" cy="1234440"/>
          </a:xfrm>
          <a:prstGeom prst="rect">
            <a:avLst/>
          </a:prstGeom>
          <a:solidFill>
            <a:srgbClr val="1B2A4A"/>
          </a:solidFill>
          <a:ln w="19050">
            <a:solidFill>
              <a:srgbClr val="C89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2514600" cy="678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8963E"/>
                </a:solidFill>
                <a:latin typeface="Calibri"/>
              </a:rPr>
              <a:t>0.360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76095"/>
            <a:ext cx="2514600" cy="469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Best Test Gini
(XGBoost)</a:t>
            </a:r>
          </a:p>
        </p:txBody>
      </p:sp>
      <p:sp>
        <p:nvSpPr>
          <p:cNvPr id="7" name="Rectangle 6"/>
          <p:cNvSpPr/>
          <p:nvPr/>
        </p:nvSpPr>
        <p:spPr>
          <a:xfrm>
            <a:off x="3319272" y="960120"/>
            <a:ext cx="2606040" cy="1234440"/>
          </a:xfrm>
          <a:prstGeom prst="rect">
            <a:avLst/>
          </a:prstGeom>
          <a:solidFill>
            <a:srgbClr val="1B2A4A"/>
          </a:solidFill>
          <a:ln w="19050">
            <a:solidFill>
              <a:srgbClr val="C89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64991" y="1051560"/>
            <a:ext cx="2514600" cy="678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8963E"/>
                </a:solidFill>
                <a:latin typeface="Calibri"/>
              </a:rPr>
              <a:t>0.329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64991" y="1676095"/>
            <a:ext cx="2514600" cy="469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GLM Baseline
(Gini)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81344" y="960120"/>
            <a:ext cx="2606040" cy="1234440"/>
          </a:xfrm>
          <a:prstGeom prst="rect">
            <a:avLst/>
          </a:prstGeom>
          <a:solidFill>
            <a:srgbClr val="1B2A4A"/>
          </a:solidFill>
          <a:ln w="19050">
            <a:solidFill>
              <a:srgbClr val="C89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27064" y="1051560"/>
            <a:ext cx="2514600" cy="678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8963E"/>
                </a:solidFill>
                <a:latin typeface="Calibri"/>
              </a:rPr>
              <a:t>1.09x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27064" y="1676095"/>
            <a:ext cx="2514600" cy="469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Double Lift
vs GLM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43416" y="960120"/>
            <a:ext cx="2606040" cy="1234440"/>
          </a:xfrm>
          <a:prstGeom prst="rect">
            <a:avLst/>
          </a:prstGeom>
          <a:solidFill>
            <a:srgbClr val="1B2A4A"/>
          </a:solidFill>
          <a:ln w="19050">
            <a:solidFill>
              <a:srgbClr val="C89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89136" y="1051560"/>
            <a:ext cx="2514600" cy="678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8963E"/>
                </a:solidFill>
                <a:latin typeface="Calibri"/>
              </a:rPr>
              <a:t>0.326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89136" y="1676095"/>
            <a:ext cx="2514600" cy="469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Best DL Gini
(CANN)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37744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333333"/>
                </a:solidFill>
                <a:latin typeface="Calibri"/>
              </a:rPr>
              <a:t>•  XGBoost and CatBoost achieve the highest discrimination (Gini 0.360) — outperforming the GLM baseline by 3.1pp</a:t>
            </a:r>
          </a:p>
          <a:p>
            <a:pPr algn="l"/>
            <a:r>
              <a:rPr sz="1300">
                <a:solidFill>
                  <a:srgbClr val="333333"/>
                </a:solidFill>
                <a:latin typeface="Calibri"/>
              </a:rPr>
              <a:t>•  CANN is the most promising deep learning architecture (Gini 0.326), matching GLM performance while learning residual non-linearities from the GLM base</a:t>
            </a:r>
          </a:p>
          <a:p>
            <a:pPr algn="l"/>
            <a:r>
              <a:rPr sz="1300">
                <a:solidFill>
                  <a:srgbClr val="333333"/>
                </a:solidFill>
                <a:latin typeface="Calibri"/>
              </a:rPr>
              <a:t>•  FT-Transformer achieves Gini 0.064 (139K params, 1.7hrs training) and TabM achieves Gini 0.049 (701K params, 3.6hrs) — both near-random, confirming pure DL cannot learn at 25K rows</a:t>
            </a:r>
          </a:p>
          <a:p>
            <a:pPr algn="l"/>
            <a:r>
              <a:rPr sz="1300">
                <a:solidFill>
                  <a:srgbClr val="333333"/>
                </a:solidFill>
                <a:latin typeface="Calibri"/>
              </a:rPr>
              <a:t>•  The marginal lift from GBM over GLM (1.09x) suggests limited non-linear signal; DL crossover expected around 100K–500K training rows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  Full Model Leaderboard</a:t>
            </a:r>
          </a:p>
          <a:p>
            <a:pPr algn="l"/>
            <a:r>
              <a:rPr sz="1300" b="0">
                <a:solidFill>
                  <a:srgbClr val="CCD6E8"/>
                </a:solidFill>
                <a:latin typeface="Calibri"/>
              </a:rPr>
              <a:t>  All architectures ranked by test Gini (descending)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6035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960120"/>
          <a:ext cx="8092440" cy="28163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/>
                <a:gridCol w="1645920"/>
                <a:gridCol w="822960"/>
                <a:gridCol w="1005840"/>
                <a:gridCol w="914400"/>
                <a:gridCol w="914400"/>
                <a:gridCol w="1051560"/>
                <a:gridCol w="1234440"/>
              </a:tblGrid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Rank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Family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Gini (Test)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MAE (£)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A/E Ratio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Parameters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Training Time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XGBoost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GBM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0.360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435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1.099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269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0.7s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CatBoost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GBM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0.359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439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1.105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465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20.1s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Stacked Ensemble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Ensemble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0.329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510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1.069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0.0s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GLM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GLM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0.329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509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1.065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73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CANN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DL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0.326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570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0.943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45K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3m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FT-Transformer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DL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0.064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678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1.070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139K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1.7h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57200" y="1362456"/>
            <a:ext cx="54864" cy="402336"/>
          </a:xfrm>
          <a:prstGeom prst="rect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764792"/>
            <a:ext cx="54864" cy="402336"/>
          </a:xfrm>
          <a:prstGeom prst="rect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5349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  <a:latin typeface="Calibri"/>
              </a:rPr>
              <a:t>* XGBoost and CatBoost figures from full-pipeline run with hyperparameter tuning. FT-Transformer and TabM trained on same 25K dataset.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  CANN — Combined Actuarial Neural Network</a:t>
            </a:r>
          </a:p>
          <a:p>
            <a:pPr algn="l"/>
            <a:r>
              <a:rPr sz="1300" b="0">
                <a:solidFill>
                  <a:srgbClr val="CCD6E8"/>
                </a:solidFill>
                <a:latin typeface="Calibri"/>
              </a:rPr>
              <a:t>  A neural network that corrects an actuary’s GLM, not replaces it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6035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ann_architecture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60120"/>
            <a:ext cx="11247120" cy="487450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34340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—  The GLM is a traditional actuarial pricing model — it captures known linear relationships (age, vehicle, claims history).
—  The neural network only learns what the GLM missed — residual non-linear patterns too complex for the GLM.
—  Output = GLM prediction × exp(NN correction), clamped to ±7.4× — the GLM anchors the premium scale.
—  Training trick: the NN is frozen for 10 epochs while the GLM base stabilises, then gradually unfrozen.
—  Analogy: an experienced actuary sets the base price; a data-science assistant fine-tunes it with hidden patterns.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  FT-Transformer — Feature Tokenizer Transformer</a:t>
            </a:r>
          </a:p>
          <a:p>
            <a:pPr algn="l"/>
            <a:r>
              <a:rPr sz="1300" b="0">
                <a:solidFill>
                  <a:srgbClr val="CCD6E8"/>
                </a:solidFill>
                <a:latin typeface="Calibri"/>
              </a:rPr>
              <a:t>  Treating each feature like a word in a sentence, then letting them ‘talk’ to each other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6035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t_transformer_architecture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60120"/>
            <a:ext cx="11247120" cy="531089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526280"/>
            <a:ext cx="112471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—  Each input feature (continuous or categorical) is projected into a fixed-size vector — its ‘token’, just like a word in NLP.
—  A special [CLS] token collects information from all features via self-attention across multiple layers.
—  Self-attention lets every feature interact with every other — automatically discovering complex combinations (e.g. age × mileage).
—  The [CLS] token’s final representation is fed through a small MLP to predict the premium (Softplus ensures positive output).
—  Based on Gorishniy et al. (2021) — originally designed for NLP, adapted here for tabular insurance data.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  TabM — Tabular MLP Ensemble</a:t>
            </a:r>
          </a:p>
          <a:p>
            <a:pPr algn="l"/>
            <a:r>
              <a:rPr sz="1300" b="0">
                <a:solidFill>
                  <a:srgbClr val="CCD6E8"/>
                </a:solidFill>
                <a:latin typeface="Calibri"/>
              </a:rPr>
              <a:t>  A committee of independent neural networks that vote on the premium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6035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abm_architecture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60120"/>
            <a:ext cx="11247120" cy="5623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526280"/>
            <a:ext cx="112471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—  K independent MLPs (default K=16) each see the same input but learn different patterns due to random initialisation.
—  Each MLP: Linear → LayerNorm → GELU → Dropout → … → Softplus (ensures positive premium output).
—  Predictions are combined via learned softmax weights — the model learns which ensemble members to trust most.
—  Diversity comes from random weight initialisation — each MLP converges to a different local optimum in the loss landscape.
—  Analogy: 16 junior pricing analysts each price a risk independently; a senior actuary weighs their opinions.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  Architecture Comparison — At a Glance</a:t>
            </a:r>
          </a:p>
          <a:p>
            <a:pPr algn="l"/>
            <a:r>
              <a:rPr sz="1300" b="0">
                <a:solidFill>
                  <a:srgbClr val="CCD6E8"/>
                </a:solidFill>
                <a:latin typeface="Calibri"/>
              </a:rPr>
              <a:t>  Three approaches to the same problem: predicting motor insurance premiums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6035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51560"/>
          <a:ext cx="112471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3044952"/>
                <a:gridCol w="3044952"/>
                <a:gridCol w="3054096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Aspect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CANN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FT-Transformer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TabM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Core Idea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GLM + NN residual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Feature tokens +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self-attention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Ensemble of K MLPs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Strengths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Actuarial grounding,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interpretable base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Automatic feature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interaction discovery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Diversity, simple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architecture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Weaknesses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Limited by GLM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assumptions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Data hungry,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slow to train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No explicit feature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interaction modelling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Parameters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~45K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~139K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~701K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Training 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2.5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1.7 hrs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3.6 hrs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Best For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Small–medium data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with strong GLM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Large datasets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(100K+ rows)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Medium data,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quick iteration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57200" y="5212080"/>
            <a:ext cx="11247120" cy="1005840"/>
          </a:xfrm>
          <a:prstGeom prst="rect">
            <a:avLst/>
          </a:prstGeom>
          <a:solidFill>
            <a:srgbClr val="1B2A4A"/>
          </a:solidFill>
          <a:ln w="25400">
            <a:solidFill>
              <a:srgbClr val="C89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30352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Key Insight:  On our 25K-row dataset, CANN’s hybrid approach dominates (Gini 0.326) — the GLM base provides the structural knowledge that pure DL models need 10–20× more data to learn from scratch.  FT-Transformer and TabM (Gini &lt; 0.07) struggle without sufficient data volume.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  Gini Comparison — All Models</a:t>
            </a:r>
          </a:p>
          <a:p>
            <a:pPr algn="l"/>
            <a:r>
              <a:rPr sz="1300" b="0">
                <a:solidFill>
                  <a:srgbClr val="CCD6E8"/>
                </a:solidFill>
                <a:latin typeface="Calibri"/>
              </a:rPr>
              <a:t>  Model Discrimination — Train vs Test Performance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6035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gini_comparison_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6583680" cy="392623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2320" y="1188720"/>
            <a:ext cx="4572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33333"/>
                </a:solidFill>
                <a:latin typeface="Calibri"/>
              </a:rPr>
              <a:t>•  XGBoost (0.360) and CatBoost (0.359) both outperform the GLM baseline (0.329) by approximately 3pp</a:t>
            </a:r>
          </a:p>
          <a:p>
            <a:pPr algn="l"/>
            <a:r>
              <a:rPr sz="1100">
                <a:solidFill>
                  <a:srgbClr val="333333"/>
                </a:solidFill>
                <a:latin typeface="Calibri"/>
              </a:rPr>
              <a:t>•  CANN achieves 0.326 Gini — near-GLM performance while using only 44K parameters vs GLM’s 73 coefficients</a:t>
            </a:r>
          </a:p>
          <a:p>
            <a:pPr algn="l"/>
            <a:r>
              <a:rPr sz="1100">
                <a:solidFill>
                  <a:srgbClr val="333333"/>
                </a:solidFill>
                <a:latin typeface="Calibri"/>
              </a:rPr>
              <a:t>•  FT-Transformer (0.064 Gini, 139K params) slightly outperforms TabM (0.049 Gini, 701K params) but both are near-random</a:t>
            </a:r>
          </a:p>
          <a:p>
            <a:pPr algn="l"/>
            <a:r>
              <a:rPr sz="1100">
                <a:solidFill>
                  <a:srgbClr val="333333"/>
                </a:solidFill>
                <a:latin typeface="Calibri"/>
              </a:rPr>
              <a:t>•  Train–test gap is largest for GBM models, reflecting their higher variance and non-linear complexity</a:t>
            </a:r>
          </a:p>
          <a:p>
            <a:pPr algn="l"/>
            <a:r>
              <a:rPr sz="1100">
                <a:solidFill>
                  <a:srgbClr val="333333"/>
                </a:solidFill>
                <a:latin typeface="Calibri"/>
              </a:rPr>
              <a:t>•  Stacked ensemble (GLM weight=1.0) does not exceed standalone GLM — CANN and TabM weights collapse to 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  Lorenz Curves — All Models</a:t>
            </a:r>
          </a:p>
          <a:p>
            <a:pPr algn="l"/>
            <a:r>
              <a:rPr sz="1300" b="0">
                <a:solidFill>
                  <a:srgbClr val="CCD6E8"/>
                </a:solidFill>
                <a:latin typeface="Calibri"/>
              </a:rPr>
              <a:t>  Cumulative Risk Ordering by Model (Test Set)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6035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renz_all_mod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6583680" cy="391957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2320" y="1188720"/>
            <a:ext cx="4572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33333"/>
                </a:solidFill>
                <a:latin typeface="Calibri"/>
              </a:rPr>
              <a:t>•  Lorenz curve shows cumulative actual loss vs cumulative predicted risk, sorted by model score (lowest to highest)</a:t>
            </a:r>
          </a:p>
          <a:p>
            <a:pPr algn="l"/>
            <a:r>
              <a:rPr sz="1100">
                <a:solidFill>
                  <a:srgbClr val="333333"/>
                </a:solidFill>
                <a:latin typeface="Calibri"/>
              </a:rPr>
              <a:t>•  A perfect model bows maximally outward from the 45° diagonal; a random model follows the diagonal</a:t>
            </a:r>
          </a:p>
          <a:p>
            <a:pPr algn="l"/>
            <a:r>
              <a:rPr sz="1100">
                <a:solidFill>
                  <a:srgbClr val="333333"/>
                </a:solidFill>
                <a:latin typeface="Calibri"/>
              </a:rPr>
              <a:t>•  Gini = 2 × (area between model curve and diagonal)</a:t>
            </a:r>
          </a:p>
          <a:p>
            <a:pPr algn="l"/>
            <a:r>
              <a:rPr sz="1100">
                <a:solidFill>
                  <a:srgbClr val="333333"/>
                </a:solidFill>
                <a:latin typeface="Calibri"/>
              </a:rPr>
              <a:t>•  XGBoost (0.360) and CatBoost (0.359) show widest bow — best discrimination among all architectures</a:t>
            </a:r>
          </a:p>
          <a:p>
            <a:pPr algn="l"/>
            <a:r>
              <a:rPr sz="1100">
                <a:solidFill>
                  <a:srgbClr val="333333"/>
                </a:solidFill>
                <a:latin typeface="Calibri"/>
              </a:rPr>
              <a:t>•  GLM Gini 0.329 — strong baseline given only 13 rating factors</a:t>
            </a:r>
          </a:p>
          <a:p>
            <a:pPr algn="l"/>
            <a:r>
              <a:rPr sz="1100">
                <a:solidFill>
                  <a:srgbClr val="333333"/>
                </a:solidFill>
                <a:latin typeface="Calibri"/>
              </a:rPr>
              <a:t>•  CANN curve overlaps closely with GLM, confirming it learns similar risk structure from the GLM base</a:t>
            </a:r>
          </a:p>
          <a:p>
            <a:pPr algn="l"/>
            <a:r>
              <a:rPr sz="1100">
                <a:solidFill>
                  <a:srgbClr val="333333"/>
                </a:solidFill>
                <a:latin typeface="Calibri"/>
              </a:rPr>
              <a:t>•  FT-Transformer and TabM curves hug the diagonal, indicating near-random risk ordering at this data scale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  Calibration by Decile — All Models</a:t>
            </a:r>
          </a:p>
          <a:p>
            <a:pPr algn="l"/>
            <a:r>
              <a:rPr sz="1300" b="0">
                <a:solidFill>
                  <a:srgbClr val="CCD6E8"/>
                </a:solidFill>
                <a:latin typeface="Calibri"/>
              </a:rPr>
              <a:t>  Actual vs Expected (A/E) Ratio Across Risk Bands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6035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alibration_all_mod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6583680" cy="391957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2320" y="10058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  <a:latin typeface="Calibri"/>
              </a:rPr>
              <a:t>How to Read This Chart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0" y="1371600"/>
            <a:ext cx="47548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333333"/>
                </a:solidFill>
                <a:latin typeface="Calibri"/>
              </a:rPr>
              <a:t>•  Policies are sorted by predicted premium and split into 10 equal-sized groups (deciles)</a:t>
            </a:r>
          </a:p>
          <a:p>
            <a:pPr algn="l"/>
            <a:r>
              <a:rPr sz="1000">
                <a:solidFill>
                  <a:srgbClr val="333333"/>
                </a:solidFill>
                <a:latin typeface="Calibri"/>
              </a:rPr>
              <a:t>•  For each decile, the Actual/Expected (A/E) ratio compares observed premium to model prediction</a:t>
            </a:r>
          </a:p>
          <a:p>
            <a:pPr algn="l"/>
            <a:r>
              <a:rPr sz="1000">
                <a:solidFill>
                  <a:srgbClr val="333333"/>
                </a:solidFill>
                <a:latin typeface="Calibri"/>
              </a:rPr>
              <a:t>•  A/E = 1.0 means perfect calibration; values above 1.0 indicate under-prediction, below means over-prediction</a:t>
            </a:r>
          </a:p>
          <a:p>
            <a:pPr algn="l"/>
            <a:r>
              <a:rPr sz="1000">
                <a:solidFill>
                  <a:srgbClr val="333333"/>
                </a:solidFill>
                <a:latin typeface="Calibri"/>
              </a:rPr>
              <a:t>•  A well-calibrated model should show A/E close to 1.0 across all deciles, not just on average</a:t>
            </a:r>
          </a:p>
          <a:p>
            <a:pPr algn="l"/>
            <a:r>
              <a:rPr sz="1000">
                <a:solidFill>
                  <a:srgbClr val="333333"/>
                </a:solidFill>
                <a:latin typeface="Calibri"/>
              </a:rPr>
              <a:t>•  Green band marks the ±5% calibration zone — models inside this zone are well-calibrated</a:t>
            </a:r>
          </a:p>
          <a:p>
            <a:pPr algn="l"/>
            <a:r>
              <a:rPr sz="1000">
                <a:solidFill>
                  <a:srgbClr val="333333"/>
                </a:solidFill>
                <a:latin typeface="Calibri"/>
              </a:rPr>
              <a:t>•  GBM diverges sharply in decile 10 (A/E 1.50) — it under-predicts the most expensive policies</a:t>
            </a:r>
          </a:p>
          <a:p>
            <a:pPr algn="l"/>
            <a:r>
              <a:rPr sz="1000">
                <a:solidFill>
                  <a:srgbClr val="333333"/>
                </a:solidFill>
                <a:latin typeface="Calibri"/>
              </a:rPr>
              <a:t>•  CANN systematically over-predicts in middle deciles (A/E 0.86–0.95) but is well-calibrated at extremes</a:t>
            </a:r>
          </a:p>
          <a:p>
            <a:pPr algn="l"/>
            <a:r>
              <a:rPr sz="1000">
                <a:solidFill>
                  <a:srgbClr val="333333"/>
                </a:solidFill>
                <a:latin typeface="Calibri"/>
              </a:rPr>
              <a:t>•  FT-Transformer shows nearly flat A/E (~1.07 everywhere) — consistent with its near-random Gini of 0.064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  A/E Ratio by Decile — All Models</a:t>
            </a:r>
          </a:p>
          <a:p>
            <a:pPr algn="l"/>
            <a:r>
              <a:rPr sz="1300" b="0">
                <a:solidFill>
                  <a:srgbClr val="CCD6E8"/>
                </a:solidFill>
                <a:latin typeface="Calibri"/>
              </a:rPr>
              <a:t>  Numerical Comparison Across Risk Bands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6035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9144000" cy="44256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554480"/>
                <a:gridCol w="1554480"/>
                <a:gridCol w="1554480"/>
                <a:gridCol w="1554480"/>
                <a:gridCol w="2011680"/>
              </a:tblGrid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Decile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GLM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GBM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CANN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TabM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FT-Transformer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1.174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1.031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0.998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0.919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1.020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1.133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1.069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0.921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1.040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1.069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1.047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0.946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0.989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1.050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1.026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1.012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0.874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0.936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1.060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0.989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0.877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1.010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1.070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0.916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0.934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0.870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1.144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1.080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0.960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1.012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0.864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1.107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1.080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1.001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1.058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0.868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1.255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1.090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1.067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1.175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0.992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1.134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1.090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1.103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1.497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1.042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1.160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1.100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349240"/>
            <a:ext cx="11247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333333"/>
                </a:solidFill>
                <a:latin typeface="Calibri"/>
              </a:rPr>
              <a:t>•  GLM: best overall calibration — A/E stays within 0.92–1.17 across all deciles, reflecting the Gamma deviance objective</a:t>
            </a:r>
          </a:p>
          <a:p>
            <a:pPr algn="l"/>
            <a:r>
              <a:rPr sz="1000">
                <a:solidFill>
                  <a:srgbClr val="333333"/>
                </a:solidFill>
                <a:latin typeface="Calibri"/>
              </a:rPr>
              <a:t>•  GBM (CatBoost): well-calibrated in deciles 1–8 but explodes in decile 10 (A/E 1.50) — tree splits struggle with extreme tail values</a:t>
            </a:r>
          </a:p>
          <a:p>
            <a:pPr algn="l"/>
            <a:r>
              <a:rPr sz="1000">
                <a:solidFill>
                  <a:srgbClr val="333333"/>
                </a:solidFill>
                <a:latin typeface="Calibri"/>
              </a:rPr>
              <a:t>•  CANN: systematic over-prediction in deciles 3–8 (A/E 0.86–0.95), suggesting the GLM base dominates and the NN correction overshoots</a:t>
            </a:r>
          </a:p>
          <a:p>
            <a:pPr algn="l"/>
            <a:r>
              <a:rPr sz="1000">
                <a:solidFill>
                  <a:srgbClr val="333333"/>
                </a:solidFill>
                <a:latin typeface="Calibri"/>
              </a:rPr>
              <a:t>•  TabM: erratic calibration (A/E 0.92–1.26) with no consistent pattern — consistent with near-random discrimination (Gini 0.049)</a:t>
            </a:r>
          </a:p>
          <a:p>
            <a:pPr algn="l"/>
            <a:r>
              <a:rPr sz="1000">
                <a:solidFill>
                  <a:srgbClr val="333333"/>
                </a:solidFill>
                <a:latin typeface="Calibri"/>
              </a:rPr>
              <a:t>•  FT-Transformer: nearly flat A/E (~1.02–1.10) — model cannot differentiate risk, so all deciles look similar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  Actual vs Predicted</a:t>
            </a:r>
          </a:p>
          <a:p>
            <a:pPr algn="l"/>
            <a:r>
              <a:rPr sz="1300" b="0">
                <a:solidFill>
                  <a:srgbClr val="CCD6E8"/>
                </a:solidFill>
                <a:latin typeface="Calibri"/>
              </a:rPr>
              <a:t>  Test Set Scatter — Best GBM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6035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_dl_09_actual_vs_predi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6583680" cy="17556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2320" y="10058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  <a:latin typeface="Calibri"/>
              </a:rPr>
              <a:t>How to Read This Chart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0" y="1371600"/>
            <a:ext cx="47548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333333"/>
                </a:solidFill>
                <a:latin typeface="Calibri"/>
              </a:rPr>
              <a:t>•  Each point represents one test-set policy: X-axis = model’s predicted premium, Y-axis = actual observed premium</a:t>
            </a:r>
          </a:p>
          <a:p>
            <a:pPr algn="l"/>
            <a:r>
              <a:rPr sz="1000">
                <a:solidFill>
                  <a:srgbClr val="333333"/>
                </a:solidFill>
                <a:latin typeface="Calibri"/>
              </a:rPr>
              <a:t>•  The diagonal dashed line marks perfect prediction — points on this line are exactly right</a:t>
            </a:r>
          </a:p>
          <a:p>
            <a:pPr algn="l"/>
            <a:r>
              <a:rPr sz="1000">
                <a:solidFill>
                  <a:srgbClr val="333333"/>
                </a:solidFill>
                <a:latin typeface="Calibri"/>
              </a:rPr>
              <a:t>•  Points above the line are under-predicted (actual &gt; predicted); below means over-predicted</a:t>
            </a:r>
          </a:p>
          <a:p>
            <a:pPr algn="l"/>
            <a:r>
              <a:rPr sz="1000">
                <a:solidFill>
                  <a:srgbClr val="333333"/>
                </a:solidFill>
                <a:latin typeface="Calibri"/>
              </a:rPr>
              <a:t>•  The widening spread at higher premiums (heteroscedasticity) is expected: high-premium policies are inherently more variable</a:t>
            </a:r>
          </a:p>
          <a:p>
            <a:pPr algn="l"/>
            <a:r>
              <a:rPr sz="1000">
                <a:solidFill>
                  <a:srgbClr val="333333"/>
                </a:solidFill>
                <a:latin typeface="Calibri"/>
              </a:rPr>
              <a:t>•  The heavy right tail in actual premiums (a few very expensive policies) is a fundamental challenge for all model architectures</a:t>
            </a:r>
          </a:p>
          <a:p>
            <a:pPr algn="l"/>
            <a:r>
              <a:rPr sz="1000">
                <a:solidFill>
                  <a:srgbClr val="333333"/>
                </a:solidFill>
                <a:latin typeface="Calibri"/>
              </a:rPr>
              <a:t>•  A good model clusters tightly around the diagonal; systematic bias shows as the cloud shifting above or below the line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  Feature Importance</a:t>
            </a:r>
          </a:p>
          <a:p>
            <a:pPr algn="l"/>
            <a:r>
              <a:rPr sz="1300" b="0">
                <a:solidFill>
                  <a:srgbClr val="CCD6E8"/>
                </a:solidFill>
                <a:latin typeface="Calibri"/>
              </a:rPr>
              <a:t>  CatBoost SHAP Values — Top Features Driving Premium Predictions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6035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_dl_04_catboost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51560"/>
            <a:ext cx="9418320" cy="70637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0350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  <a:latin typeface="Calibri"/>
              </a:rPr>
              <a:t>—  SHAP values measure each feature’s marginal contribution to predictions across the dataset.
—  Higher |SHAP| = stronger influence.  The direction (positive / negative) shows the effect on premium.
—  This ranking is from the CatBoost model; CANN and GBM feature effects are shown on the next slide.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  Partial Dependence Plots — GBM &amp; CANN</a:t>
            </a:r>
          </a:p>
          <a:p>
            <a:pPr algn="l"/>
            <a:r>
              <a:rPr sz="1300" b="0">
                <a:solidFill>
                  <a:srgbClr val="CCD6E8"/>
                </a:solidFill>
                <a:latin typeface="Calibri"/>
              </a:rPr>
              <a:t>  Top-6 Continuous Variables: CREDIT_SCORE, LICENCEHELD_YEARS, AGE×NCD, MILEAGE_K, VEHICLE_AGE, NCD_CAPPED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6035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Calibri"/>
              </a:rPr>
              <a:t>GBM (XGBoost) — SHAP Partial Dependence</a:t>
            </a:r>
          </a:p>
        </p:txBody>
      </p:sp>
      <p:pic>
        <p:nvPicPr>
          <p:cNvPr id="5" name="Picture 4" descr="fig11_pdp_top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5760720" cy="356811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20" y="100584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Calibri"/>
              </a:rPr>
              <a:t>CANN — Neural Network Partial Dependence</a:t>
            </a:r>
          </a:p>
        </p:txBody>
      </p:sp>
      <p:pic>
        <p:nvPicPr>
          <p:cNvPr id="7" name="Picture 6" descr="cann_pdp_cropp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669280" cy="1947529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6217920"/>
            <a:ext cx="1161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  <a:latin typeface="Calibri"/>
              </a:rPr>
              <a:t>GBM PDP uses SHAP dependence for the top-6 continuous features.  CANN PDP shows neural-network partial dependence for the same variables.  FT-Transformer and TabM PDPs were not computed due to near-random discrimination (Gini &lt; 0.07).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  Cross-Validation Stability</a:t>
            </a:r>
          </a:p>
          <a:p>
            <a:pPr algn="l"/>
            <a:r>
              <a:rPr sz="1300" b="0">
                <a:solidFill>
                  <a:srgbClr val="CCD6E8"/>
                </a:solidFill>
                <a:latin typeface="Calibri"/>
              </a:rPr>
              <a:t>  5-Fold Out-of-Fold Performance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6035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_dl_14_cv_st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6583680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52360" y="105156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  <a:latin typeface="Calibri"/>
              </a:rPr>
              <a:t>Cross-Validation Summary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452360" y="1508760"/>
          <a:ext cx="42976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92024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OOF Gini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0.3311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Val Gini (mean)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0.3310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Train Gini (mean)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0.3507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Val Gini (std)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±0.0041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N folds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452360" y="397764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  <a:latin typeface="Calibri"/>
              </a:rPr>
              <a:t>Ensemble Weights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452360" y="4389120"/>
          <a:ext cx="4297680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920240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Weight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GLM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CANN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TABM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452360" y="5120640"/>
            <a:ext cx="4297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88888"/>
                </a:solidFill>
                <a:latin typeface="Calibri"/>
              </a:rPr>
              <a:t>GLM weight=1.0 in the stacked ensemble indicates that CANN and TabM do not add predictive signal beyond the GLM base at this dataset size.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  Computation Time &amp; Hardware Scaling</a:t>
            </a:r>
          </a:p>
          <a:p>
            <a:pPr algn="l"/>
            <a:r>
              <a:rPr sz="1300" b="0">
                <a:solidFill>
                  <a:srgbClr val="CCD6E8"/>
                </a:solidFill>
                <a:latin typeface="Calibri"/>
              </a:rPr>
              <a:t>  Training Time by Model — M2 Max vs GPU Cluster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6035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9144000" cy="28163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097280"/>
                <a:gridCol w="1554480"/>
                <a:gridCol w="1554480"/>
                <a:gridCol w="1645920"/>
                <a:gridCol w="1645920"/>
              </a:tblGrid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Parameters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M2 Max</a:t>
                      </a:r>
                    </a:p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(25K rows)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A100 GPU</a:t>
                      </a:r>
                    </a:p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(25K rows)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A100 GPU</a:t>
                      </a:r>
                    </a:p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(100K rows)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A100 GPU</a:t>
                      </a:r>
                    </a:p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(500K rows)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XGBoost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269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0.7s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~0.5s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~2s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~8s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CatBoost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465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20s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~12s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~50s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~3m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GLM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&lt;1s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&lt;1s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~2s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~5s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CANN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45K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2.5m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~25s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~1.5m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~6m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FT-Transformer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139K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1.7hrs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~12m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~45m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~3hrs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TabM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701K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3.6hrs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~25m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~1.5hrs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~6hrs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977639"/>
            <a:ext cx="11247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33333"/>
                </a:solidFill>
                <a:latin typeface="Calibri"/>
              </a:rPr>
              <a:t>•  GBMs (XGBoost, CatBoost) train in seconds even at 500K rows — GPU acceleration provides marginal benefit for tree methods</a:t>
            </a:r>
          </a:p>
          <a:p>
            <a:pPr algn="l"/>
            <a:r>
              <a:rPr sz="1100">
                <a:solidFill>
                  <a:srgbClr val="333333"/>
                </a:solidFill>
                <a:latin typeface="Calibri"/>
              </a:rPr>
              <a:t>•  FT-Transformer and TabM are 8–10x faster on A100 GPU vs M2 Max CPU due to CUDA parallelism on matrix operations</a:t>
            </a:r>
          </a:p>
          <a:p>
            <a:pPr algn="l"/>
            <a:r>
              <a:rPr sz="1100">
                <a:solidFill>
                  <a:srgbClr val="333333"/>
                </a:solidFill>
                <a:latin typeface="Calibri"/>
              </a:rPr>
              <a:t>•  CANN benefits from GPU but trains quickly regardless — the GLM base is pre-computed, NN only learns residuals</a:t>
            </a:r>
          </a:p>
          <a:p>
            <a:pPr algn="l"/>
            <a:r>
              <a:rPr sz="1100">
                <a:solidFill>
                  <a:srgbClr val="333333"/>
                </a:solidFill>
                <a:latin typeface="Calibri"/>
              </a:rPr>
              <a:t>•  At 500K rows, FT-Transformer and TabM become practical on GPU (3–6 hours) but remain impractical on CPU (est. 2–4 days)</a:t>
            </a:r>
          </a:p>
          <a:p>
            <a:pPr algn="l"/>
            <a:r>
              <a:rPr sz="1100">
                <a:solidFill>
                  <a:srgbClr val="333333"/>
                </a:solidFill>
                <a:latin typeface="Calibri"/>
              </a:rPr>
              <a:t>•  GLM training time is negligible at any scale — IRLS convergence on 73 parameters is near-instant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  <a:latin typeface="Calibri"/>
              </a:rPr>
              <a:t>* M2 Max times are actual measured values. A100 and scaled estimates are projected based on published CPU-to-GPU speedup ratios for each architecture class.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22576"/>
            <a:ext cx="12191695" cy="45354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37160" cy="2286000"/>
          </a:xfrm>
          <a:prstGeom prst="rect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457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8963E"/>
                </a:solidFill>
                <a:latin typeface="Calibri"/>
              </a:rPr>
              <a:t>Why Deep Learning Struggles
on Actuarial Tabular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7373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8"/>
                </a:solidFill>
                <a:latin typeface="Calibri"/>
              </a:rPr>
              <a:t>Five structural challenges at 25K training rows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468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  <a:latin typeface="Calibri"/>
              </a:rPr>
              <a:t>1.  Small Dataset (25K Training Rows)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74320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Deep learning models require 100K+ rows to learn stable feature interactions. Tree ensembles converge with far fewer observations via greedy splits.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474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  <a:latin typeface="Calibri"/>
              </a:rPr>
              <a:t>2.  Multiplicative Premium 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74904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Insurance premiums follow a multiplicative rating model (base × factors). Log-linear GLMs and GBMs with Gamma objectives directly encode this; neural networks must learn it implicitly.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4805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  <a:latin typeface="Calibri"/>
              </a:rPr>
              <a:t>3.  Heavy-Tailed Gamma Distribution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75488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Net premiums span £100–£9,000+. Neural networks default to MSE-like objectives; Gamma deviance loss requires careful tuning that is fragile at small scale.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468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  <a:latin typeface="Calibri"/>
              </a:rPr>
              <a:t>4.  Mixed Feature Types Need Embeddings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74320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13 categorical factors (age band, NCD, vehicle class) require entity embeddings. With sparse training data each embedding is poorly estimated, adding noise rather than signal.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474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  <a:latin typeface="Calibri"/>
              </a:rPr>
              <a:t>5.  Limited Non-Linear Signal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374904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The GBM double-lift over GLM is only 1.09x. When the signal is nearly linear-multiplicative, deep learning’s capacity for non-linearity is a liability rather than an asset.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  Dataset Scaling &amp; DL vs GBM Crossover</a:t>
            </a:r>
          </a:p>
          <a:p>
            <a:pPr algn="l"/>
            <a:r>
              <a:rPr sz="1300" b="0">
                <a:solidFill>
                  <a:srgbClr val="CCD6E8"/>
                </a:solidFill>
                <a:latin typeface="Calibri"/>
              </a:rPr>
              <a:t>  Estimated Gini Trajectory — When Does Deep Learning Start to Win?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6035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caling_by_dataset_si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6583680" cy="39095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2320" y="1188720"/>
            <a:ext cx="47548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333333"/>
                </a:solidFill>
                <a:latin typeface="Calibri"/>
              </a:rPr>
              <a:t>•  GBMs dominate at 25K rows — multiplicative structure and tree splits are highly data-efficient</a:t>
            </a:r>
          </a:p>
          <a:p>
            <a:pPr algn="l"/>
            <a:r>
              <a:rPr sz="1000">
                <a:solidFill>
                  <a:srgbClr val="333333"/>
                </a:solidFill>
                <a:latin typeface="Calibri"/>
              </a:rPr>
              <a:t>•  GLM plateaus ~0.36 Gini; parametric form caps expressiveness</a:t>
            </a:r>
          </a:p>
          <a:p>
            <a:pPr algn="l"/>
            <a:r>
              <a:rPr sz="1000">
                <a:solidFill>
                  <a:srgbClr val="333333"/>
                </a:solidFill>
                <a:latin typeface="Calibri"/>
              </a:rPr>
              <a:t>•  CANN scales well thanks to the GLM prior; FT-Transformer and TabM need 50K–75K rows to beat the GLM baseline</a:t>
            </a:r>
          </a:p>
          <a:p>
            <a:pPr algn="l"/>
            <a:r>
              <a:rPr sz="1000">
                <a:solidFill>
                  <a:srgbClr val="333333"/>
                </a:solidFill>
                <a:latin typeface="Calibri"/>
              </a:rPr>
              <a:t>•  Crossover zone: 100K–500K rows — at 500K, all architectures cluster within 2–3pp Gini</a:t>
            </a:r>
          </a:p>
          <a:p>
            <a:pPr algn="l"/>
            <a:r>
              <a:rPr sz="1000">
                <a:solidFill>
                  <a:srgbClr val="333333"/>
                </a:solidFill>
                <a:latin typeface="Calibri"/>
              </a:rPr>
              <a:t>•  Grinsztajn et al. (2022): GBMs superior on &lt;100K rows</a:t>
            </a:r>
          </a:p>
          <a:p>
            <a:pPr algn="l"/>
            <a:r>
              <a:rPr sz="1000">
                <a:solidFill>
                  <a:srgbClr val="333333"/>
                </a:solidFill>
                <a:latin typeface="Calibri"/>
              </a:rPr>
              <a:t>•  Gorishniy et al. (2021): FT-Transformer competitive with GBMs only on datasets &gt;250K rows</a:t>
            </a:r>
          </a:p>
          <a:p>
            <a:pPr algn="l"/>
            <a:r>
              <a:rPr sz="1000">
                <a:solidFill>
                  <a:srgbClr val="333333"/>
                </a:solidFill>
                <a:latin typeface="Calibri"/>
              </a:rPr>
              <a:t>•  Recommendation: revisit DL when portfolio reaches 50K–75K training policies (~2–3 years at current growth)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  Industry Case Study</a:t>
            </a:r>
          </a:p>
          <a:p>
            <a:pPr algn="l"/>
            <a:r>
              <a:rPr sz="1300" b="0">
                <a:solidFill>
                  <a:srgbClr val="CCD6E8"/>
                </a:solidFill>
                <a:latin typeface="Calibri"/>
              </a:rPr>
              <a:t>  When ML Pricing Met Real-World Volatility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6035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245352" y="1005840"/>
            <a:ext cx="36576" cy="5486400"/>
          </a:xfrm>
          <a:prstGeom prst="rect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73152" cy="5394960"/>
          </a:xfrm>
          <a:prstGeom prst="rect">
            <a:avLst/>
          </a:prstGeom>
          <a:solidFill>
            <a:srgbClr val="2E6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0058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2A4A"/>
                </a:solidFill>
                <a:latin typeface="Calibri"/>
              </a:rPr>
              <a:t>Root Insurance (US Telematics)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463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88"/>
                </a:solidFill>
                <a:latin typeface="Calibri"/>
              </a:rPr>
              <a:t>ML pricing model based on 31B+ miles of telematics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874519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33333"/>
                </a:solidFill>
                <a:latin typeface="Calibri"/>
              </a:rPr>
              <a:t>•  Raised on AI-first, telematics-only pricing — no traditional factors</a:t>
            </a:r>
          </a:p>
          <a:p>
            <a:pPr algn="l"/>
            <a:r>
              <a:rPr sz="1100">
                <a:solidFill>
                  <a:srgbClr val="333333"/>
                </a:solidFill>
                <a:latin typeface="Calibri"/>
              </a:rPr>
              <a:t>•  Combined ratio: 257% (2021), 215% (2022), 94.2% (Q4 2024)</a:t>
            </a:r>
          </a:p>
          <a:p>
            <a:pPr algn="l"/>
            <a:r>
              <a:rPr sz="1100">
                <a:solidFill>
                  <a:srgbClr val="333333"/>
                </a:solidFill>
                <a:latin typeface="Calibri"/>
              </a:rPr>
              <a:t>•  Key lesson: ML model failed during 2021–2022 inflation shock — historic driving data did not predict repair cost inflation</a:t>
            </a:r>
          </a:p>
          <a:p>
            <a:pPr algn="l"/>
            <a:r>
              <a:rPr sz="1100">
                <a:solidFill>
                  <a:srgbClr val="333333"/>
                </a:solidFill>
                <a:latin typeface="Calibri"/>
              </a:rPr>
              <a:t>•  Recovery required reverting to hybrid: ML telematics score × traditional GLM rate adequacy model</a:t>
            </a:r>
          </a:p>
          <a:p>
            <a:pPr algn="l"/>
            <a:r>
              <a:rPr sz="1100">
                <a:solidFill>
                  <a:srgbClr val="333333"/>
                </a:solidFill>
                <a:latin typeface="Calibri"/>
              </a:rPr>
              <a:t>•  Now profitable, but reinsurance &amp; capital cost was enormous during the transition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005840"/>
            <a:ext cx="73152" cy="5394960"/>
          </a:xfrm>
          <a:prstGeom prst="rect">
            <a:avLst/>
          </a:prstGeom>
          <a:solidFill>
            <a:srgbClr val="2E6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11112" y="10058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2A4A"/>
                </a:solidFill>
                <a:latin typeface="Calibri"/>
              </a:rPr>
              <a:t>Lemonade (AI-First Insurer)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11112" y="1463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88"/>
                </a:solidFill>
                <a:latin typeface="Calibri"/>
              </a:rPr>
              <a:t>Never disclosed model architecture; “AI” as a marketing claim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11112" y="1874519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33333"/>
                </a:solidFill>
                <a:latin typeface="Calibri"/>
              </a:rPr>
              <a:t>•  ‘AI-first’ underwriting — model internals never publicly disclosed</a:t>
            </a:r>
          </a:p>
          <a:p>
            <a:pPr algn="l"/>
            <a:r>
              <a:rPr sz="1100">
                <a:solidFill>
                  <a:srgbClr val="333333"/>
                </a:solidFill>
                <a:latin typeface="Calibri"/>
              </a:rPr>
              <a:t>•  Gross loss ratio: 90% (2022) → 63% (Q4 2024) — significant improvement</a:t>
            </a:r>
          </a:p>
          <a:p>
            <a:pPr algn="l"/>
            <a:r>
              <a:rPr sz="1100">
                <a:solidFill>
                  <a:srgbClr val="333333"/>
                </a:solidFill>
                <a:latin typeface="Calibri"/>
              </a:rPr>
              <a:t>•  Net combined ratio still ~184% (Q4 2024) after reinsurance — profitable on underwriting but not overall</a:t>
            </a:r>
          </a:p>
          <a:p>
            <a:pPr algn="l"/>
            <a:r>
              <a:rPr sz="1100">
                <a:solidFill>
                  <a:srgbClr val="333333"/>
                </a:solidFill>
                <a:latin typeface="Calibri"/>
              </a:rPr>
              <a:t>•  CEO admits improvement driven primarily by reinsurance restructuring and catastrophe exposure management, not ML</a:t>
            </a:r>
          </a:p>
          <a:p>
            <a:pPr algn="l"/>
            <a:r>
              <a:rPr sz="1100">
                <a:solidFill>
                  <a:srgbClr val="333333"/>
                </a:solidFill>
                <a:latin typeface="Calibri"/>
              </a:rPr>
              <a:t>•  Key lesson: “AI pricing” press releases often obscure traditional actuarial work underneath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  Key Takeaways &amp; Recommendations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6035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544068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89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5440680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996696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8963E"/>
                </a:solidFill>
                <a:latin typeface="Calibri"/>
              </a:rPr>
              <a:t>Discrimination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52120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333333"/>
                </a:solidFill>
                <a:latin typeface="Calibri"/>
              </a:rPr>
              <a:t>•  GBMs achieve 0.360 Gini on test, vs GLM baseline 0.329</a:t>
            </a:r>
          </a:p>
          <a:p>
            <a:pPr algn="l"/>
            <a:r>
              <a:rPr sz="1000">
                <a:solidFill>
                  <a:srgbClr val="333333"/>
                </a:solidFill>
                <a:latin typeface="Calibri"/>
              </a:rPr>
              <a:t>•  Deep learning adds no discrimination lift at 25K training rows</a:t>
            </a:r>
          </a:p>
          <a:p>
            <a:pPr algn="l"/>
            <a:r>
              <a:rPr sz="1000">
                <a:solidFill>
                  <a:srgbClr val="333333"/>
                </a:solidFill>
                <a:latin typeface="Calibri"/>
              </a:rPr>
              <a:t>•  CANN is closest DL model (0.326), leveraging GLM base</a:t>
            </a:r>
          </a:p>
        </p:txBody>
      </p:sp>
      <p:sp>
        <p:nvSpPr>
          <p:cNvPr id="8" name="Rectangle 7"/>
          <p:cNvSpPr/>
          <p:nvPr/>
        </p:nvSpPr>
        <p:spPr>
          <a:xfrm>
            <a:off x="5989320" y="960120"/>
            <a:ext cx="544068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89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89320" y="960120"/>
            <a:ext cx="5440680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8" y="996696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8963E"/>
                </a:solidFill>
                <a:latin typeface="Calibri"/>
              </a:rPr>
              <a:t>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1371600"/>
            <a:ext cx="52120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333333"/>
                </a:solidFill>
                <a:latin typeface="Calibri"/>
              </a:rPr>
              <a:t>•  CANN is the most promising DL architecture: GLM base + NN residual correction</a:t>
            </a:r>
          </a:p>
          <a:p>
            <a:pPr algn="l"/>
            <a:r>
              <a:rPr sz="1000">
                <a:solidFill>
                  <a:srgbClr val="333333"/>
                </a:solidFill>
                <a:latin typeface="Calibri"/>
              </a:rPr>
              <a:t>•  Pure transformer/MLP models fail to converge on small actuarial datasets</a:t>
            </a:r>
          </a:p>
          <a:p>
            <a:pPr algn="l"/>
            <a:r>
              <a:rPr sz="1000">
                <a:solidFill>
                  <a:srgbClr val="333333"/>
                </a:solidFill>
                <a:latin typeface="Calibri"/>
              </a:rPr>
              <a:t>•  GBMs (XGBoost/CatBoost) are robust, fast, and interpretable via SHAP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383280"/>
            <a:ext cx="544068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89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3383280"/>
            <a:ext cx="5440680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" y="3419856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8963E"/>
                </a:solidFill>
                <a:latin typeface="Calibri"/>
              </a:rPr>
              <a:t>Scaling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794760"/>
            <a:ext cx="52120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333333"/>
                </a:solidFill>
                <a:latin typeface="Calibri"/>
              </a:rPr>
              <a:t>•  DL becomes competitive with GBMs at approximately 100K–250K training rows</a:t>
            </a:r>
          </a:p>
          <a:p>
            <a:pPr algn="l"/>
            <a:r>
              <a:rPr sz="1000">
                <a:solidFill>
                  <a:srgbClr val="333333"/>
                </a:solidFill>
                <a:latin typeface="Calibri"/>
              </a:rPr>
              <a:t>•  FT-Transformer and TabM need 50K+ rows to outperform the GLM baseline</a:t>
            </a:r>
          </a:p>
          <a:p>
            <a:pPr algn="l"/>
            <a:r>
              <a:rPr sz="1000">
                <a:solidFill>
                  <a:srgbClr val="333333"/>
                </a:solidFill>
                <a:latin typeface="Calibri"/>
              </a:rPr>
              <a:t>•  Revisit DL investment when portfolio reaches 50K–75K training policies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9320" y="3383280"/>
            <a:ext cx="544068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89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89320" y="3383280"/>
            <a:ext cx="5440680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9048" y="3419856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8963E"/>
                </a:solidFill>
                <a:latin typeface="Calibri"/>
              </a:rPr>
              <a:t>Recommendation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3794760"/>
            <a:ext cx="52120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333333"/>
                </a:solidFill>
                <a:latin typeface="Calibri"/>
              </a:rPr>
              <a:t>•  Deploy XGBoost or CatBoost for production pricing — best Gini, fast inference</a:t>
            </a:r>
          </a:p>
          <a:p>
            <a:pPr algn="l"/>
            <a:r>
              <a:rPr sz="1000">
                <a:solidFill>
                  <a:srgbClr val="333333"/>
                </a:solidFill>
                <a:latin typeface="Calibri"/>
              </a:rPr>
              <a:t>•  Monitor CANN performance as portfolio grows; most likely DL successor</a:t>
            </a:r>
          </a:p>
          <a:p>
            <a:pPr algn="l"/>
            <a:r>
              <a:rPr sz="1000">
                <a:solidFill>
                  <a:srgbClr val="333333"/>
                </a:solidFill>
                <a:latin typeface="Calibri"/>
              </a:rPr>
              <a:t>•  Maintain GLM as regulatory reference model for interpretability and sign-off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3474720"/>
            <a:ext cx="8534095" cy="36576"/>
          </a:xfrm>
          <a:prstGeom prst="rect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94484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C8963E"/>
                </a:solidFill>
                <a:latin typeface="Calibri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200400"/>
            <a:ext cx="8534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Deep Learning vs Gradient Boosting — UK Motor Net Premium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794760"/>
            <a:ext cx="8534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88888"/>
                </a:solidFill>
                <a:latin typeface="Calibri"/>
              </a:rPr>
              <a:t>March 2026 |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029200"/>
            <a:ext cx="8534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8963E"/>
                </a:solidFill>
                <a:latin typeface="Calibri"/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