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703320"/>
            <a:ext cx="8686800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Unstructured Data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8963E"/>
                </a:solidFill>
                <a:latin typeface="Calibri"/>
              </a:rPr>
              <a:t>Novel Data Sources for Insurance Pricing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886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March 2026  |  Strategic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Traditional Data Has Reached Diminishing Returns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0120"/>
            <a:ext cx="329184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051560"/>
            <a:ext cx="3145536" cy="63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0.360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1618488"/>
            <a:ext cx="3182112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Current Best Gini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960120"/>
            <a:ext cx="329184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051560"/>
            <a:ext cx="3145536" cy="63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0.329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9392" y="1618488"/>
            <a:ext cx="3182112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GLM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6136" y="960120"/>
            <a:ext cx="3291840" cy="109728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1051560"/>
            <a:ext cx="3145536" cy="63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C2626"/>
                </a:solidFill>
                <a:latin typeface="Calibri"/>
              </a:rPr>
              <a:t>+0.0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618488"/>
            <a:ext cx="3182112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Marginal DL 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3317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Structured rating factors (age, NCD, vehicle group, postcode) are fully exploited by GLMs and GBMs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Deep learning adds no incremental lift at current data sizes (25K policies)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The next frontier is not better models — it is better data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 Unstructured and alternative data sources remain largely untapped in UK motor pricing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Three Tiers of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11338560" cy="1463040"/>
          </a:xfrm>
          <a:prstGeom prst="rect">
            <a:avLst/>
          </a:prstGeom>
          <a:solidFill>
            <a:srgbClr val="1B2A4A"/>
          </a:solidFill>
          <a:ln w="25400"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64592" cy="1463040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06984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TIER 1  —  Build Tomorrow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7218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E"/>
                </a:solidFill>
                <a:latin typeface="Calibri"/>
              </a:rPr>
              <a:t>DVSA MOT API  |  Open Banking  |  Claims NLP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BF0F7"/>
                </a:solidFill>
                <a:latin typeface="Calibri"/>
              </a:rPr>
              <a:t>Proven signal, clear regulatory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97480"/>
            <a:ext cx="11338560" cy="1463040"/>
          </a:xfrm>
          <a:prstGeom prst="rect">
            <a:avLst/>
          </a:prstGeom>
          <a:solidFill>
            <a:srgbClr val="1B2A4A"/>
          </a:solidFill>
          <a:ln w="254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697480"/>
            <a:ext cx="164592" cy="146304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0720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TIER 2  —  Build This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20954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E"/>
                </a:solidFill>
                <a:latin typeface="Calibri"/>
              </a:rPr>
              <a:t>Dashcam Video Scoring  |  Street View Address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65760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BF0F7"/>
                </a:solidFill>
                <a:latin typeface="Calibri"/>
              </a:rPr>
              <a:t>Strong signal, higher execution complexity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434840"/>
            <a:ext cx="11338560" cy="1463040"/>
          </a:xfrm>
          <a:prstGeom prst="rect">
            <a:avLst/>
          </a:prstGeom>
          <a:solidFill>
            <a:srgbClr val="1B2A4A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4434840"/>
            <a:ext cx="164592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54456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TIER 3  —  Position for 2027-28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94690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963E"/>
                </a:solidFill>
                <a:latin typeface="Calibri"/>
              </a:rPr>
              <a:t>Sleep / Circadian Data  |  EV Charging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394959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BF0F7"/>
                </a:solidFill>
                <a:latin typeface="Calibri"/>
              </a:rPr>
              <a:t>Emerging signal, early mover advantage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Tier 1: Verified Mileage &amp; Vehicle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960120"/>
            <a:ext cx="1783080" cy="347472"/>
          </a:xfrm>
          <a:prstGeom prst="rect">
            <a:avLst/>
          </a:prstGeom>
          <a:solidFill>
            <a:srgbClr val="1D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96012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Tier 1 — Low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7680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Free, public UK Government API — queryable by registration plate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Verified odometer readings at each MOT test (replaces self-declared mileage)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Vehicle maintenance behaviour score from advisory / failure history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Mechanical condition risk flags (brakes, tyres, suspension)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1005840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1097280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9A6C"/>
                </a:solidFill>
                <a:latin typeface="Calibri"/>
              </a:rPr>
              <a:t>2-5 Gini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1624" y="1609344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Expected Lift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176272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2267712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9A6C"/>
                </a:solidFill>
                <a:latin typeface="Calibri"/>
              </a:rPr>
              <a:t>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779776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Effort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3346704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3438144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9A6C"/>
                </a:solidFill>
                <a:latin typeface="Calibri"/>
              </a:rPr>
              <a:t>Very 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3950208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Regulatory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Tier 1: Transaction-Derived Behavioural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960120"/>
            <a:ext cx="1783080" cy="347472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96012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Tier 1 — Medium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7680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PSD2 consent-based query at point of quote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Fuel spend — verified mileage (cross-validates self-declared)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Gambling frequency / volume — risk-taking propensity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Financial stress signals — correlated with claim fraud and at-fault risk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Late-night transaction patterns — nocturnal activity proxy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90% of lenders now consider alternative data critical (Nova Credit 2024)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1005840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1097280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1-3 Gini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1624" y="1609344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Expected Lift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176272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2267712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Medium-High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779776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Effort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3346704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3438144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3950208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Regulatory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Tier 1: Claims Intelligence Feedback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960120"/>
            <a:ext cx="1783080" cy="347472"/>
          </a:xfrm>
          <a:prstGeom prst="rect">
            <a:avLst/>
          </a:prstGeom>
          <a:solidFill>
            <a:srgbClr val="1D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96012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Tier 1 — Low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7680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BERT models predict frequency and severity from adjuster notes (CAS Variance 2023)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No consent or data acquisition needed — insurer's own claims data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Extract: injury severity keywords, fraud patterns, liability attribution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Feedback loop: each claims cycle improves the pricing model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Compounding data advantage over competitors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1005840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1097280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2-4 Gini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1624" y="1609344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Expected Lift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176272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2267712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779776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Effort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3346704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3438144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9A6C"/>
                </a:solidFill>
                <a:latin typeface="Calibri"/>
              </a:rP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3950208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Regulatory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Tier 2: Computer Vision Behavioural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960120"/>
            <a:ext cx="1783080" cy="347472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96012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Tier 2 — Medium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7680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Beyond GPS telematics: distraction events, following distance, hazard anticipation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MIT research: risk-behaviour extraction from dashcam proven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MDPI 2024: 80% recall on pre-accident anticipation from video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30-day video sampling windows, not continuous surveillance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Existing video_to_text pipeline is architecturally transferable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1005840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1097280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3-5 Gini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1624" y="1609344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Expected Lift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176272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2267712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C2626"/>
                </a:solidFill>
                <a:latin typeface="Calibri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779776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Effort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3346704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3438144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3950208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Regulatory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Tier 2: Address-Level Visual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960120"/>
            <a:ext cx="1783080" cy="347472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96012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Tier 2 — Medium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7680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Google Street View + Mapillary — address-level features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Road surface quality, parking type, street lighting, traffic calming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Replaces sector-level PCD scores with property-level resolution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Real estate AVMs prove incremental lift over postcode (PLOS One 2025)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Updated more frequently than geodemographic surveys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1005840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1097280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1-2 Gini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1624" y="1609344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Expected Lift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60" y="2176272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2267712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2779776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Effort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3346704"/>
            <a:ext cx="3291840" cy="100584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3438144"/>
            <a:ext cx="3145536" cy="58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63E"/>
                </a:solidFill>
                <a:latin typeface="Calibri"/>
              </a:rPr>
              <a:t>Medium-High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3950208"/>
            <a:ext cx="3182112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Regulatory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Tier 3: Position for 2027-2028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60120"/>
            <a:ext cx="5394960" cy="457200"/>
          </a:xfrm>
          <a:prstGeom prst="rect">
            <a:avLst/>
          </a:prstGeom>
          <a:solidFill>
            <a:srgbClr val="1B2A4A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0149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Sleep &amp; Circadian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Stanford SleepFM (2026): 100+ conditions from sleep data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54.5% of Americans use wearables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Fatigue is a direct causal accident factor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Regulatory: High — health data = special category under GDPR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960120"/>
            <a:ext cx="5394960" cy="457200"/>
          </a:xfrm>
          <a:prstGeom prst="rect">
            <a:avLst/>
          </a:prstGeom>
          <a:solidFill>
            <a:srgbClr val="1B2A4A"/>
          </a:solidFill>
          <a:ln w="19050">
            <a:solidFill>
              <a:srgbClr val="2E6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0149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EV Charging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kWh consumed — direct mileage verification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Charging location patterns reveal regular routes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30%+ of UK new registrations are EV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333333"/>
                </a:solidFill>
                <a:latin typeface="Calibri"/>
              </a:rPr>
              <a:t>•  Regulatory: Low — commercial data agreement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9048" y="914400"/>
            <a:ext cx="36576" cy="54864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Opportunity Priority Matrix</a:t>
            </a:r>
          </a:p>
        </p:txBody>
      </p:sp>
      <p:pic>
        <p:nvPicPr>
          <p:cNvPr id="5" name="Picture 4" descr="unstructured_prior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7680960" cy="49640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9601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Top 3 Priorities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554480"/>
            <a:ext cx="109728" cy="109728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8132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1. DVSA MOT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819656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Highest lift-to-effort ratio. Free government data, no consent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788920"/>
            <a:ext cx="109728" cy="109728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7157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2. Claims NLP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054096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Own data asset. No acquisition cost. Compounds with each renewal cycle.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4023360"/>
            <a:ext cx="109728" cy="109728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95020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3. Open Banking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288536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Strong behavioural signal. PSD2 infrastructure now mature in UK.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The Billion-Pound Business: Data Enrichment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solidFill>
            <a:srgbClr val="1B2A4A"/>
          </a:solidFill>
          <a:ln w="1905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024128"/>
            <a:ext cx="10149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963E"/>
                </a:solidFill>
                <a:latin typeface="Calibri"/>
              </a:rPr>
              <a:t>Single API call at point of quote  —  50 features from novel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3383280" cy="2560320"/>
          </a:xfrm>
          <a:prstGeom prst="rect">
            <a:avLst/>
          </a:prstGeom>
          <a:solidFill>
            <a:srgbClr val="1B2A4A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148840"/>
            <a:ext cx="3163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E"/>
                </a:solidFill>
                <a:latin typeface="Calibri"/>
              </a:rPr>
              <a:t>Data Flywheel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51760"/>
            <a:ext cx="31638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More quotes — more signal — better models — more 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057400"/>
            <a:ext cx="3383280" cy="2560320"/>
          </a:xfrm>
          <a:prstGeom prst="rect">
            <a:avLst/>
          </a:prstGeom>
          <a:solidFill>
            <a:srgbClr val="1B2A4A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2148840"/>
            <a:ext cx="3163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E"/>
                </a:solidFill>
                <a:latin typeface="Calibri"/>
              </a:rPr>
              <a:t>Compliance as a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2651760"/>
            <a:ext cx="31638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Proxy discrimination testing, DPIA, FCA Consumer Duty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057400"/>
            <a:ext cx="3383280" cy="2560320"/>
          </a:xfrm>
          <a:prstGeom prst="rect">
            <a:avLst/>
          </a:prstGeom>
          <a:solidFill>
            <a:srgbClr val="1B2A4A"/>
          </a:solidFill>
          <a:ln w="9525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2148840"/>
            <a:ext cx="3163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3E"/>
                </a:solidFill>
                <a:latin typeface="Calibri"/>
              </a:rPr>
              <a:t>Integration Stickiness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2651760"/>
            <a:ext cx="31638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Once embedded in quote workflow, switching costs are 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846320"/>
            <a:ext cx="11338560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B9E"/>
                </a:solidFill>
                <a:latin typeface="Calibri"/>
              </a:rPr>
              <a:t>•  Go-to-market: DVSA MOT API alone is compelling enough for first 5 insurers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UK Regulatory Framework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960120"/>
          <a:ext cx="1078992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502920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Regulation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Requirement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 Level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UK GDPR / 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Personal data profiling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DPIA for automated pricing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FCA Consumer Duty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Fair value by segment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Novel data cannot concentrate costs on vulnerable customers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Equality Act 2010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Protected characteristics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No proxy discrimination via data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FCA GIPP (PS21/5)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Renewal pricing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Limits loyalty penalty exploitation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Social 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De facto prohibited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Disparate impact + consent barriers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Emerging Players &amp; Market Signals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96012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74320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 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Relevance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ZestyAI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Growth ($62M)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Satellite property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Live with Lemonade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Tractable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Unicorn ($185M)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CV on damage photos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Claims triage — pre-loss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Shift Technology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Claims NLP + networks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Fraud from narratives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Cytora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LLM on submissions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Commercial underwriting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Arity (Allstate)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Operating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Driving behaviour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Mobility data marketplace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Credolab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Smartphone psychometrics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Pre-launch UK / EU</a:t>
                      </a:r>
                    </a:p>
                  </a:txBody>
                  <a:tcPr>
                    <a:solidFill>
                      <a:srgbClr val="EBF0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5230368"/>
            <a:ext cx="11338560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349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•  Otonomo &amp; Wejo (connected vehicle data) collapsed 2023-24 — pure data marketplace model failed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Implementation Roadmap</a:t>
            </a:r>
          </a:p>
        </p:txBody>
      </p:sp>
      <p:pic>
        <p:nvPicPr>
          <p:cNvPr id="5" name="Picture 4" descr="unstructured_roadmap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11612880" cy="28405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Calibri"/>
              </a:rPr>
              <a:t>Key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663440"/>
            <a:ext cx="182880" cy="182880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46177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DVSA MOT API live — validated mileage in pricing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03520"/>
            <a:ext cx="182880" cy="182880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52578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NLP claims scoring in production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943599"/>
            <a:ext cx="182880" cy="182880"/>
          </a:xfrm>
          <a:prstGeom prst="rect">
            <a:avLst/>
          </a:prstGeom>
          <a:solidFill>
            <a:srgbClr val="2E6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89787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89787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Open banking pilot — 5,000 consented quotes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663440"/>
            <a:ext cx="182880" cy="182880"/>
          </a:xfrm>
          <a:prstGeom prst="rect">
            <a:avLst/>
          </a:prstGeom>
          <a:solidFill>
            <a:srgbClr val="1D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617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Q1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6177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Street View feature store built &amp; A/B tested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5303520"/>
            <a:ext cx="182880" cy="182880"/>
          </a:xfrm>
          <a:prstGeom prst="rect">
            <a:avLst/>
          </a:prstGeom>
          <a:solidFill>
            <a:srgbClr val="1D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Q3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52578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Dashcam beta — 500 vehicle trial cohort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943599"/>
            <a:ext cx="18288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89787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A"/>
                </a:solidFill>
                <a:latin typeface="Calibri"/>
              </a:rPr>
              <a:t>2028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589787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Next-gen biometric / EV data decision point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286000"/>
            <a:ext cx="9144000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63E"/>
                </a:solidFill>
                <a:latin typeface="Calibri"/>
              </a:rPr>
              <a:t>The Next Frontier Is Better Data, Not Better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886200"/>
            <a:ext cx="9144000" cy="36576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69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March 2026  |  Strategic Analysis  | 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