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6868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Deep Learning vs Gradient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63E"/>
                </a:solidFill>
                <a:latin typeface="Calibri"/>
              </a:rPr>
              <a:t>UK Motor Net Premium — Model Architecture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Executive Summary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UK Motor Net Premium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Test Gini
(XGBoost)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4991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GLM Baseline
(Gini)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27064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1.09x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Double Lift
vs GLM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3416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DL Gini
(CANN)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XGBoost and CatBoost achieve the highest discrimination (Gini 0.360) — outperforming the GLM baseline by 3.1pp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CANN is the most promising deep learning architecture (Gini 0.326), matching GLM performance while learning residual non-linearities from the GLM base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FT-Transformer achieves Gini 0.064 (139K params, 1.7hrs training) and TabM achieves Gini 0.049 (701K params, 3.6hrs) — both near-random, confirming pure DL cannot learn at 25K rows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The marginal lift from GBM over GLM (1.09x) suggests limited non-linear signal; DL crossover expected around 100K–500K training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Full Model Leaderboard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All architectures ranked by test Gini (descending)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80924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Gini (Test)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(£)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A/E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20.1s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678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1362456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XGBoost and CatBoost figures from full-pipeline run with hyperparameter tuning. FT-Transformer and TabM trained on same 25K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Gini Comparison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Model Discrimination — Train vs Test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ni_comparis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262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both outperform the GLM baseline (0.329) by approximately 3pp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achieves 0.326 Gini — near-GLM performance while using only 44K parameters vs GLM’s 73 coefficients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(0.064 Gini, 139K params) slightly outperforms TabM (0.049 Gini, 701K params) but both are near-random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Train–test gap is largest for GBM models, reflecting their higher variance and non-linear complexity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Stacked ensemble (GLM weight=1.0) does not exceed standalone GLM — CANN and TabM weights collapse to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Lorenz Curves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Cumulative Risk Ordering by Model (Test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renz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Lorenz curve shows cumulative actual loss vs cumulative predicted risk, sorted by model score (lowest to highest)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 perfect model bows maximally outward from the 45° diagonal; a random model follows the diagonal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Gini = 2 × (area between model curve and diagonal)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show widest bow — best discrimination among all architectures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Gini 0.329 — strong baseline given only 13 rating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curve overlaps closely with GLM, confirming it learns similar risk structure from the GLM base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curves hug the diagonal, indicating near-random risk ordering at this data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Calibration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Actual vs Expected (A/E) Ratio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libratio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Policies are sorted by predicted premium and split into 10 equal-sized groups (deciles)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For each decile, the Actual/Expected (A/E) ratio compares observed premium to model 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A/E = 1.0 means perfect calibration; values above 1.0 indicate under-prediction, below means over-prediction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 well-calibrated model should show A/E close to 1.0 across all deciles, not just on average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Green band marks the ±5% calibration zone — models inside this zone are well-calibrated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diverges sharply in decile 10 (A/E 1.50) — it under-predicts the most expensive policies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systematically over-predicts in middle deciles (A/E 0.86–0.95) but is well-calibrated at extremes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shows nearly flat A/E (~1.07 everywhere) — consistent with its near-random Gini of 0.064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A/E Ratio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Numerical Comparison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1.144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1.255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1.497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492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GLM: best overall calibration — A/E stays within 0.92–1.17 across all deciles, reflecting the Gamma deviance objective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(CatBoost): well-calibrated in deciles 1–8 but explodes in decile 10 (A/E 1.50) — tree splits struggle with extreme tail values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CANN: systematic over-prediction in deciles 3–8 (A/E 0.86–0.95), suggesting the GLM base dominates and the NN correction overshoots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TabM: erratic calibration (A/E 0.92–1.26) with no consistent pattern — consistent with near-random discrimination (Gini 0.049)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FT-Transformer: nearly flat A/E (~1.02–1.10) — model cannot differentiate risk, so all deciles look similar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Actual vs Predicted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Test Set Scatter — Best GBM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9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92" y="3429000"/>
            <a:ext cx="10851776" cy="28938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72753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3661" y="132588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Each point represents one test-set policy: X-axis = model’s predicted premium, Y-axis = actual observed premium</a:t>
            </a:r>
          </a:p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The diagonal dashed line marks perfect prediction — points on this line are exactly right</a:t>
            </a:r>
          </a:p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Points above the line are under-predicted (actual &gt; predicted); below means over-predicted</a:t>
            </a:r>
          </a:p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The widening spread at higher premiums (heteroscedasticity) is expected: high-premium policies are inherently more variable</a:t>
            </a:r>
          </a:p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The heavy right tail in actual premiums (a few very expensive policies) is a fundamental challenge for all model architectures</a:t>
            </a:r>
          </a:p>
          <a:p>
            <a:pPr algn="l"/>
            <a:r>
              <a:rPr sz="1000" dirty="0">
                <a:solidFill>
                  <a:srgbClr val="333333"/>
                </a:solidFill>
                <a:latin typeface="Calibri"/>
              </a:rPr>
              <a:t>•  A good model clusters tightly around the diagonal; systematic bias shows as the cloud shifting above or below the 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Feature Importance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CatBoost SHAP Values — Top Features Driving Premium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04_catboos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478" y="1085850"/>
            <a:ext cx="6248400" cy="468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—  SHAP values measure each feature’s marginal contribution to predictions across the dataset.
—  Higher |SHAP| = stronger influence.  The direction (positive / negative) shows the effect on premium.
—  This ranking is from the CatBoost model; CANN and GBM feature effects are shown on the next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Cross-Validation Stability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5-Fold Out-of-Fold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dl_14_cv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051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Cross-Validation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5087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OOF 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(mean)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 Gini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(std)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±0.0041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3977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Ensemble Weights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4389120"/>
          <a:ext cx="4297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55541" y="5824728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888888"/>
                </a:solidFill>
                <a:latin typeface="Calibri"/>
              </a:rPr>
              <a:t>GLM weight=1.0 in the stacked ensemble indicates that CANN and </a:t>
            </a:r>
            <a:r>
              <a:rPr sz="1000" b="0" i="1" dirty="0" err="1">
                <a:solidFill>
                  <a:srgbClr val="888888"/>
                </a:solidFill>
                <a:latin typeface="Calibri"/>
              </a:rPr>
              <a:t>TabM</a:t>
            </a:r>
            <a:r>
              <a:rPr sz="1000" b="0" i="1" dirty="0">
                <a:solidFill>
                  <a:srgbClr val="888888"/>
                </a:solidFill>
                <a:latin typeface="Calibri"/>
              </a:rPr>
              <a:t> do not add predictive signal beyond the GLM base at this dataset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Computation Time &amp; Hardware Scaling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Training Time by Model — M2 Max vs GPU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2840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M2 Max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(100K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(500K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~0.5s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701K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GBMs (XGBoost, CatBoost) train in seconds even at 500K rows — GPU acceleration provides marginal benefit for tree methods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are 8–10x faster on A100 GPU vs M2 Max CPU due to CUDA parallelism on matrix operations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benefits from GPU but trains quickly regardless — the GLM base is pre-computed, NN only learns residuals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At 500K rows, FT-Transformer and TabM become practical on GPU (3–6 hours) but remain impractical on CPU (est. 2–4 days)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training time is negligible at any scale — IRLS convergence on 73 parameters is near-instant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M2 Max times are actual measured values. A100 and scaled estimates are projected based on published CPU-to-GPU speedup ratios for each architecture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91695" cy="4535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E"/>
                </a:solidFill>
                <a:latin typeface="Calibri"/>
              </a:rPr>
              <a:t>Why Deep Learning Struggles
on Actuarial Tabular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Calibri"/>
              </a:rPr>
              <a:t>Five structural challenges at 25K training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1.  Small Dataset (25K Training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Deep learning models require 100K+ rows to learn stable feature interactions. Tree ensembles converge with far fewer observations via greedy splits.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2.  Multiplicative Premium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Insurance premiums follow a multiplicative rating model (base × factors). Log-linear GLMs and GBMs with Gamma objectives directly encode this; neural networks must learn it implicitly.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3.  Heavy-Tailed Gamma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Net premiums span £100–£9,000+. Neural networks default to MSE-like objectives; Gamma deviance loss requires careful tuning that is fragile at small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4.  Mixed Feature Types Need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13 categorical factors (age band, NCD, vehicle class) require entity embeddings. With sparse training data each embedding is poorly estimated, adding noise rather than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5.  Limited Non-Linear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 GBM double-lift over GLM is only 1.09x. When the signal is nearly linear-multiplicative, deep learning’s capacity for non-linearity is a liability rather than an asset.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Dataset Scaling &amp; DL vs GBM Crossover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Estimated Gini Trajectory — When Does Deep Learning Start to 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aling_by_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0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dominate at 25K rows — multiplicative structure and tree splits are highly data-efficient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 plateaus ~0.36 Gini; parametric form caps expressiveness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scales well thanks to the GLM prior; FT-Transformer and TabM need 50K–75K rows to beat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Crossover zone: 100K–500K rows — at 500K, all architectures cluster within 2–3pp Gini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Grinsztajn et al. (2022): GBMs superior on &lt;100K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Gorishniy et al. (2021): FT-Transformer competitive with GBMs only on datasets &gt;250K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Recommendation: revisit DL when portfolio reaches 50K–75K training policies (~2–3 years at current growth)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Industry Case Study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When ML Pricing Met Real-World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5352" y="1005840"/>
            <a:ext cx="36576" cy="54864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Root Insurance (US Telematics)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ML pricing model based on 31B+ miles of telematics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Raised on AI-first, telematics-only pricing — no traditional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Combined ratio: 257% (2021), 215% (2022), 94.2% (Q4 2024)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ML model failed during 2021–2022 inflation shock — historic driving data did not predict repair cost inflation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Recovery required reverting to hybrid: ML telematics score × traditional GLM rate adequacy model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Now profitable, but reinsurance &amp; capital cost was enormous during the transition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Lemonade (AI-First Insurer)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Never disclosed model architecture; “AI” as a marketing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‘AI-first’ underwriting — model internals never publicly disclosed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Gross loss ratio: 90% (2022) → 63% (Q4 2024) — significant improvement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Net combined ratio still ~184% (Q4 2024) after reinsurance — profitable on underwriting but not overall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CEO admits improvement driven primarily by reinsurance restructuring and catastrophe exposure management, not ML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“AI pricing” press releases often obscure traditional actuarial work underneath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Key Takeaways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Discrimination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achieve 0.360 Gini on test, vs GLM baseline 0.329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Deep learning adds no discrimination lift at 25K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closest DL model (0.326), leveraging GLM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the most promising DL architecture: GLM base + NN residual correction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Pure transformer/MLP models fail to converge on small actuarial datasets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(XGBoost/CatBoost) are robust, fast, and interpretable via 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DL becomes competitive with GBMs at approximately 100K–250K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and TabM need 50K+ rows to outperform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Revisit DL investment when portfolio reaches 50K–75K training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8932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9904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Deploy XGBoost or CatBoost for production pricing — best Gini, fast inference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Monitor CANN performance as portfolio grows; most likely DL successor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Maintain GLM as regulatory reference model for interpretability and sign-off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340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8963E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Deep Learning vs Gradient Boosting — UK Motor Net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Calibri"/>
              </a:rPr>
              <a:t>March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963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2116</Words>
  <Application>Microsoft Macintosh PowerPoint</Application>
  <PresentationFormat>Widescreen</PresentationFormat>
  <Paragraphs>325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Sum Hon Mun</cp:lastModifiedBy>
  <cp:revision>2</cp:revision>
  <dcterms:created xsi:type="dcterms:W3CDTF">2013-01-27T09:14:16Z</dcterms:created>
  <dcterms:modified xsi:type="dcterms:W3CDTF">2026-03-04T19:34:23Z</dcterms:modified>
  <cp:category/>
</cp:coreProperties>
</file>