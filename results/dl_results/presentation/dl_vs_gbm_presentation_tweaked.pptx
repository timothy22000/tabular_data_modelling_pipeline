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28"/>
  </p:normalViewPr>
  <p:slideViewPr>
    <p:cSldViewPr snapToGrid="0" snapToObjects="1">
      <p:cViewPr varScale="1">
        <p:scale>
          <a:sx n="119" d="100"/>
          <a:sy n="119" d="100"/>
        </p:scale>
        <p:origin x="50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3657600"/>
            <a:ext cx="8686800" cy="36576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Deep Learning vs Gradient Boosting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963E"/>
                </a:solidFill>
                <a:latin typeface="Calibri"/>
              </a:rPr>
              <a:t>UK Motor Net Premium — Model Architecture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86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March 2026 | Ageas Direct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Executive Summary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UK Motor Net Premium Model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2606040" cy="123444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2514600" cy="67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963E"/>
                </a:solidFill>
                <a:latin typeface="Calibri"/>
              </a:rPr>
              <a:t>0.360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76095"/>
            <a:ext cx="2514600" cy="46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Best Test Gini
(XGBoost)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9272" y="960120"/>
            <a:ext cx="2606040" cy="123444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64991" y="1051560"/>
            <a:ext cx="2514600" cy="67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963E"/>
                </a:solidFill>
                <a:latin typeface="Calibri"/>
              </a:rPr>
              <a:t>0.329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4991" y="1676095"/>
            <a:ext cx="2514600" cy="46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GLM Baseline
(Gini)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1344" y="960120"/>
            <a:ext cx="2606040" cy="123444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27064" y="1051560"/>
            <a:ext cx="2514600" cy="67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963E"/>
                </a:solidFill>
                <a:latin typeface="Calibri"/>
              </a:rPr>
              <a:t>1.09x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7064" y="1676095"/>
            <a:ext cx="2514600" cy="46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Double Lift
vs GLM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43416" y="960120"/>
            <a:ext cx="2606040" cy="123444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89136" y="1051560"/>
            <a:ext cx="2514600" cy="67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963E"/>
                </a:solidFill>
                <a:latin typeface="Calibri"/>
              </a:rPr>
              <a:t>0.326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89136" y="1676095"/>
            <a:ext cx="2514600" cy="46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Best DL Gini
(CANN)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774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333333"/>
                </a:solidFill>
                <a:latin typeface="Calibri"/>
              </a:rPr>
              <a:t>•  XGBoost and CatBoost achieve the highest discrimination (Gini 0.360) — outperforming the GLM baseline by 3.1pp</a:t>
            </a:r>
          </a:p>
          <a:p>
            <a:pPr algn="l"/>
            <a:r>
              <a:rPr sz="1300">
                <a:solidFill>
                  <a:srgbClr val="333333"/>
                </a:solidFill>
                <a:latin typeface="Calibri"/>
              </a:rPr>
              <a:t>•  CANN is the most promising deep learning architecture (Gini 0.326), matching GLM performance while learning residual non-linearities from the GLM base</a:t>
            </a:r>
          </a:p>
          <a:p>
            <a:pPr algn="l"/>
            <a:r>
              <a:rPr sz="1300">
                <a:solidFill>
                  <a:srgbClr val="333333"/>
                </a:solidFill>
                <a:latin typeface="Calibri"/>
              </a:rPr>
              <a:t>•  Pure deep learning models (FT-Transformer, TabM) fail to converge meaningfully on this 25K-row dataset — Gini below 0.065, far behind tree-based methods</a:t>
            </a:r>
          </a:p>
          <a:p>
            <a:pPr algn="l"/>
            <a:r>
              <a:rPr sz="1300">
                <a:solidFill>
                  <a:srgbClr val="333333"/>
                </a:solidFill>
                <a:latin typeface="Calibri"/>
              </a:rPr>
              <a:t>•  The marginal lift from GBM over GLM (1.09x) suggests limited non-linear signal; DL crossover expected around 100K–500K training rows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Full Model Leaderboard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All architectures ranked by test Gini (descending)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60120"/>
          <a:ext cx="809244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Gini (Test)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MAE (£)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A/E Ratio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Parameters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Training Time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0.7s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GBM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0.359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439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1.105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465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20.1s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Stacked 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GLM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GLM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0.329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509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1.065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CANN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FT-Transformer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DL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0.064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678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1.070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139K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1.7h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1362456"/>
            <a:ext cx="54864" cy="402336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764792"/>
            <a:ext cx="54864" cy="402336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5349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* XGBoost and CatBoost figures from full-pipeline run with hyperparameter tuning. FT-Transformer and TabM trained on same 25K dataset.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Gini Comparison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Model Discrimination — Test Set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_dl_01_gini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58368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18872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XGBoost (0.360) and CatBoost (0.359) both outperform the GLM baseline (0.329) by approximately 3pp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CANN achieves 0.326 Gini — near-GLM performance while using only 44K parameters vs GLM’s 73 coefficients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Pure DL models (FT-Transformer, TabM) fail on this dataset: Gini below 0.065 signals near-random ordering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Train–test gap is largest for GBM models, reflecting their higher variance and non-linear complexity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Stacked ensemble (GLM weight=1.0) does not exceed standalone GLM — CANN and TabM weights collapse to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Lorenz Curves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Cumulative Risk Ordering by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_dl_02_lorenz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583680" cy="5760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18872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333333"/>
                </a:solidFill>
                <a:latin typeface="Calibri"/>
              </a:rPr>
              <a:t>•  Lorenz curve shows cumulative actual loss vs cumulative predicted risk, sorted by model score (lowest to highest)</a:t>
            </a:r>
          </a:p>
          <a:p>
            <a:pPr algn="l"/>
            <a:r>
              <a:rPr sz="1100" dirty="0">
                <a:solidFill>
                  <a:srgbClr val="333333"/>
                </a:solidFill>
                <a:latin typeface="Calibri"/>
              </a:rPr>
              <a:t>•  A perfect model bows maximally outward from the 45° diagonal; a random model follows the diagonal</a:t>
            </a:r>
          </a:p>
          <a:p>
            <a:pPr algn="l"/>
            <a:r>
              <a:rPr sz="1100" dirty="0">
                <a:solidFill>
                  <a:srgbClr val="333333"/>
                </a:solidFill>
                <a:latin typeface="Calibri"/>
              </a:rPr>
              <a:t>•  Gini = 2 × (area between model curve and diagonal)</a:t>
            </a:r>
          </a:p>
          <a:p>
            <a:pPr algn="l"/>
            <a:r>
              <a:rPr sz="1100" dirty="0">
                <a:solidFill>
                  <a:srgbClr val="333333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333333"/>
                </a:solidFill>
                <a:latin typeface="Calibri"/>
              </a:rPr>
              <a:t>XGBoost</a:t>
            </a:r>
            <a:r>
              <a:rPr sz="1100" dirty="0">
                <a:solidFill>
                  <a:srgbClr val="333333"/>
                </a:solidFill>
                <a:latin typeface="Calibri"/>
              </a:rPr>
              <a:t> Gini 0.360 — widest bow among all models tested</a:t>
            </a:r>
          </a:p>
          <a:p>
            <a:pPr algn="l"/>
            <a:r>
              <a:rPr sz="1100" dirty="0">
                <a:solidFill>
                  <a:srgbClr val="333333"/>
                </a:solidFill>
                <a:latin typeface="Calibri"/>
              </a:rPr>
              <a:t>•  GLM Gini 0.329 — strong baseline given only 13 rating factors</a:t>
            </a:r>
          </a:p>
          <a:p>
            <a:pPr algn="l"/>
            <a:r>
              <a:rPr sz="1100" dirty="0">
                <a:solidFill>
                  <a:srgbClr val="333333"/>
                </a:solidFill>
                <a:latin typeface="Calibri"/>
              </a:rPr>
              <a:t>•  CANN curve overlaps closely with GLM, confirming it learns similar risk structure from the GLM base</a:t>
            </a:r>
          </a:p>
          <a:p>
            <a:pPr algn="l"/>
            <a:r>
              <a:rPr sz="1100" dirty="0">
                <a:solidFill>
                  <a:srgbClr val="333333"/>
                </a:solidFill>
                <a:latin typeface="Calibri"/>
              </a:rPr>
              <a:t>•  FT-Transformer and </a:t>
            </a:r>
            <a:r>
              <a:rPr sz="1100" dirty="0" err="1">
                <a:solidFill>
                  <a:srgbClr val="333333"/>
                </a:solidFill>
                <a:latin typeface="Calibri"/>
              </a:rPr>
              <a:t>TabM</a:t>
            </a:r>
            <a:r>
              <a:rPr sz="1100" dirty="0">
                <a:solidFill>
                  <a:srgbClr val="333333"/>
                </a:solidFill>
                <a:latin typeface="Calibri"/>
              </a:rPr>
              <a:t> curves hug the diagonal, indicating near-random risk ordering at this data scale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7526A6B-0452-342F-A343-81F8B28720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135645"/>
              </p:ext>
            </p:extLst>
          </p:nvPr>
        </p:nvGraphicFramePr>
        <p:xfrm>
          <a:off x="7692014" y="3276600"/>
          <a:ext cx="2837329" cy="284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6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2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Decile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CANN A/E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27"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2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0.921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2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2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0.874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2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0.877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2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0.870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02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0.864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02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0.868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027"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3333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02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333333"/>
                          </a:solidFill>
                          <a:latin typeface="Calibri"/>
                        </a:rPr>
                        <a:t>1.042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9094AA2-6C22-FBC1-2947-D47B37F6ECDD}"/>
              </a:ext>
            </a:extLst>
          </p:cNvPr>
          <p:cNvSpPr txBox="1"/>
          <p:nvPr/>
        </p:nvSpPr>
        <p:spPr>
          <a:xfrm>
            <a:off x="7467447" y="6313396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888888"/>
                </a:solidFill>
                <a:latin typeface="Calibri"/>
              </a:rPr>
              <a:t>CANN under-predicts in middle deciles (A/E ~0.87–0.95) but is well-calibrated at extremes (decile 1 and 10).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Calibration by Decile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Actual vs Expected (A/E) Ratio Across Risk Bands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-1" y="726141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_dl_08_calibration_dec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7" y="1893346"/>
            <a:ext cx="11903615" cy="310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49010" y="1391776"/>
            <a:ext cx="4114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CANN A/E Ratio by</a:t>
            </a:r>
            <a:r>
              <a:rPr lang="en-US" sz="1200" b="1" i="0" dirty="0">
                <a:solidFill>
                  <a:srgbClr val="1B2A4A"/>
                </a:solidFill>
                <a:latin typeface="Calibri"/>
              </a:rPr>
              <a:t> Premium</a:t>
            </a:r>
            <a:r>
              <a:rPr sz="1200" b="1" i="0" dirty="0">
                <a:solidFill>
                  <a:srgbClr val="1B2A4A"/>
                </a:solidFill>
                <a:latin typeface="Calibri"/>
              </a:rPr>
              <a:t> Decile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Actual vs Predicted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Test Set Scatter — Best GBM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_dl_09_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42" y="1592535"/>
            <a:ext cx="11454878" cy="35712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61264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Each point = one test-set policy. Diagonal dashed line = perfect prediction. Heteroscedasticity is visible — prediction accuracy decreases for high-premium policies. Heavy right tail in actual premiums is a fundamental challenge for all architectures.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Cross-Validation Stability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5-Fold Out-of-Fold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_dl_14_cv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5836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0515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Cross-Validation Summary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52360" y="1508760"/>
          <a:ext cx="4297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OOF Gini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Val Gini (mean)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0.3310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Train Gini (mean)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0.3507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Val Gini (std)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±0.0041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 folds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52360" y="39776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Ensemble Weights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52360" y="4389120"/>
          <a:ext cx="429768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Weight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CANN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TABM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52359" y="6035040"/>
            <a:ext cx="47393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GLM weight=1.0 in the stacked ensemble indicates that CANN and TabM do not add predictive signal beyond the GLM base at this dataset size.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322576"/>
            <a:ext cx="12191695" cy="45354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22860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963E"/>
                </a:solidFill>
                <a:latin typeface="Calibri"/>
              </a:rPr>
              <a:t>Why Deep Learning Struggles
on Actuarial Tabular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37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  <a:latin typeface="Calibri"/>
              </a:rPr>
              <a:t>Five structural challenges at 25K training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68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1.  Small Dataset (25K Training Rows)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432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Deep learning models require 100K+ rows to learn stable feature interactions. Tree ensembles converge with far fewer observations via greedy splits.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74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2.  Multiplicative Premium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7490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Insurance premiums follow a multiplicative rating model (base × factors). Log-linear GLMs and GBMs with Gamma objectives directly encode this; neural networks must learn it implicitly.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80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3.  Heavy-Tailed Gamma 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7548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Net premiums span £100–£9,000+. Neural networks default to MSE-like objectives; Gamma deviance loss requires careful tuning that is fragile at small scale.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468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4.  Mixed Feature Types Need Embeddings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7432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13 categorical factors (age band, NCD, vehicle class) require entity embeddings. With sparse training data each embedding is poorly estimated, adding noise rather than signal.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474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5.  Limited Non-Linear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7490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The GBM double-lift over GLM is only 1.09x. When the signal is nearly linear-multiplicative, deep learning’s capacity for non-linearity is a liability rather than an asset.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Performance by Dataset Size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Estimated Gini Trajectory as Training Data Grows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caling_by_datas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583680" cy="39095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18872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All models perform similarly at 25K rows — tree-based methods (GBM) lead because they exploit multiplicative structure efficiently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GLM plateaus around 0.36 Gini even with more data — its parametric form caps expressiveness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CANN scales better than pure DL models because the GLM base provides a strong prior that stabilises training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FT-Transformer and TabM require 50K–75K rows to outperform the GLM baseline reliably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GBM and DL models converge around 250K–500K rows; pure DL may overtake at 1M+ rows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Current portfolio (25K) sits at the crossover where GBM dominates; revisit DL investment if data doubles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DL vs GBM Crossover Analysis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When Does Deep Learning Start to Win?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caling_by_datas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400800" cy="38009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118872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Crossover zone: 100K–500K training rows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At 100K rows: CANN overtakes GLM; FT-Transformer begins to converge on GBM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At 500K rows: all architectures cluster within 2–3pp Gini; DL variants may edge ahead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Literature evidence for GBM dominance on small tabular data: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   Grinsztajn et al. (2022): ‘Why Tree-Based Models Still Outperform Deep Learning on Tabular Data’ — GBMs superior on &lt;100K rows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   Gorishniy et al. (2021): FT-Transformer competitive with GBMs but only on large datasets (&gt;250K)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Recommendation: revisit DL architectures when portfolio reaches 50K–75K training policies (≈2–3 years at current growth)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Industry Case Study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When ML Pricing Met Real-World Volatility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45352" y="1005840"/>
            <a:ext cx="36576" cy="54864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73152" cy="5394960"/>
          </a:xfrm>
          <a:prstGeom prst="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Root Insurance (US Telematics)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463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  <a:latin typeface="Calibri"/>
              </a:rPr>
              <a:t>ML pricing model based on 31B+ miles of telematics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874519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Raised on AI-first, telematics-only pricing — no traditional factors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Combined ratio: 257% (2021), 215% (2022), 94.2% (Q4 2024)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Key lesson: ML model failed during 2021–2022 inflation shock — historic driving data did not predict repair cost inflation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Recovery required reverting to hybrid: ML telematics score × traditional GLM rate adequacy model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Now profitable, but reinsurance &amp; capital cost was enormous during the transition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005840"/>
            <a:ext cx="73152" cy="5394960"/>
          </a:xfrm>
          <a:prstGeom prst="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11112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Lemonade (AI-First Insurer)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463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  <a:latin typeface="Calibri"/>
              </a:rPr>
              <a:t>Never disclosed model architecture; “AI” as a marketing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1874519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‘AI-first’ underwriting — model internals never publicly disclosed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Gross loss ratio: 90% (2022) → 63% (Q4 2024) — significant improvement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Net combined ratio still ~184% (Q4 2024) after reinsurance — profitable on underwriting but not overall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CEO admits improvement driven primarily by reinsurance restructuring and catastrophe exposure management, not ML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Key lesson: “AI pricing” press releases often obscure traditional actuarial work underneath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Key Takeaways &amp;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4406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44068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" y="99669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63E"/>
                </a:solidFill>
                <a:latin typeface="Calibri"/>
              </a:rPr>
              <a:t>Discrimination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GBMs achieve 0.360 Gini on test, vs GLM baseline 0.329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Deep learning adds no discrimination lift at 25K training rows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CANN is closest DL model (0.326), leveraging GLM base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960120"/>
            <a:ext cx="54406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89320" y="960120"/>
            <a:ext cx="544068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9048" y="99669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63E"/>
                </a:solidFill>
                <a:latin typeface="Calibri"/>
              </a:rP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37160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CANN is the most promising DL architecture: GLM base + NN residual correction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Pure transformer/MLP models fail to converge on small actuarial datasets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GBMs (XGBoost/CatBoost) are robust, fast, and interpretable via SHAP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83280"/>
            <a:ext cx="54406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3383280"/>
            <a:ext cx="544068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341985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63E"/>
                </a:solidFill>
                <a:latin typeface="Calibri"/>
              </a:rPr>
              <a:t>Scaling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9476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DL becomes competitive with GBMs at approximately 100K–250K training rows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FT-Transformer and TabM need 50K+ rows to outperform the GLM baseline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Revisit DL investment when portfolio reaches 50K–75K training policies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3383280"/>
            <a:ext cx="54406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89320" y="3383280"/>
            <a:ext cx="544068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99048" y="341985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63E"/>
                </a:solidFill>
                <a:latin typeface="Calibri"/>
              </a:rPr>
              <a:t>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79476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Deploy XGBoost or CatBoost for production pricing — best Gini, fast inference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Monitor CANN performance as portfolio grows; most likely DL successor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Maintain GLM as regulatory reference model for interpretability and sign-off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3474720"/>
            <a:ext cx="8534095" cy="36576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C8963E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0040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Deep Learning vs Gradient Boosting — UK Motor Net Premium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794760"/>
            <a:ext cx="853409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888888"/>
                </a:solidFill>
                <a:latin typeface="Calibri"/>
              </a:rPr>
              <a:t>March </a:t>
            </a:r>
            <a:r>
              <a:rPr sz="1300" b="0" i="0">
                <a:solidFill>
                  <a:srgbClr val="888888"/>
                </a:solidFill>
                <a:latin typeface="Calibri"/>
              </a:rPr>
              <a:t>2026 | </a:t>
            </a:r>
            <a:r>
              <a:rPr sz="1300" b="0" i="0" dirty="0">
                <a:solidFill>
                  <a:srgbClr val="888888"/>
                </a:solidFill>
                <a:latin typeface="Calibri"/>
              </a:rPr>
              <a:t>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8963E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1520</Words>
  <Application>Microsoft Macintosh PowerPoint</Application>
  <PresentationFormat>Widescreen</PresentationFormat>
  <Paragraphs>212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Timothy Sum Hon Mun</cp:lastModifiedBy>
  <cp:revision>2</cp:revision>
  <dcterms:created xsi:type="dcterms:W3CDTF">2013-01-27T09:14:16Z</dcterms:created>
  <dcterms:modified xsi:type="dcterms:W3CDTF">2026-03-04T11:45:56Z</dcterms:modified>
  <cp:category/>
</cp:coreProperties>
</file>