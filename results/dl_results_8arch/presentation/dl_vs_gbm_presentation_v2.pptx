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0"/>
            <a:ext cx="86868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Deep Learning vs Gradient Boosting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63E"/>
                </a:solidFill>
                <a:latin typeface="Calibri"/>
              </a:rPr>
              <a:t>UK Motor Net Premium — Model Architecture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Executive Summary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UK Motor Net Premium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Test Gini
(XGBoost)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1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GLM Baseline
(Gini)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1.10x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Double Lift
vs GLM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3416" y="960120"/>
            <a:ext cx="2606040" cy="1234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051560"/>
            <a:ext cx="251460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1676095"/>
            <a:ext cx="2514600" cy="46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Best DL Gini
(CANN)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7744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XGBoost and CatBoost achieve the highest discrimination (Gini 0.362) — outperforming the GLM baseline by 3.3pp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CANN is the most promising deep learning architecture (Gini 0.354), matching GLM performance while learning residual non-linearities from the GLM base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FT-Transformer achieves Gini 0.064 (139K params, 1.7hrs training) and TabM achieves Gini 0.049 (701K params, 3.6hrs) — both near-random, confirming pure DL cannot learn at 25K rows</a:t>
            </a:r>
          </a:p>
          <a:p>
            <a:pPr algn="l"/>
            <a:r>
              <a:rPr sz="1300">
                <a:solidFill>
                  <a:srgbClr val="333333"/>
                </a:solidFill>
                <a:latin typeface="Calibri"/>
              </a:rPr>
              <a:t>•  The marginal lift from GBM over GLM (1.09x) suggests limited non-linear signal; DL crossover expected around 100K–500K training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Full Model Leaderboard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All architectures ranked by test Gini (descending)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8092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45920"/>
                <a:gridCol w="822960"/>
                <a:gridCol w="1005840"/>
                <a:gridCol w="914400"/>
                <a:gridCol w="914400"/>
                <a:gridCol w="1051560"/>
                <a:gridCol w="123444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Gini (Test)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(£)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A/E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Training Time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0.361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1.115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12.1s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CANN-GBM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162K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LocalGLMnet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162K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DRN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0.317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558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-0.013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475K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2.1h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1362456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64792"/>
            <a:ext cx="54864" cy="40233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XGBoost and CatBoost figures from full-pipeline run with hyperparameter tuning. FT-Transformer and TabM trained on same 25K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CANN — Combined Actuarial Neural Network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 neural network that corrects an actuary’s GLM, not replaces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n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4633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The GLM is a traditional actuarial pricing model — it captures known linear relationships (age, vehicle, claims history).
—  The neural network only learns what the GLM missed — residual non-linear patterns too complex for the GLM.
—  Output = GLM prediction × exp(NN correction), clamped to ±7.4× — the GLM anchors the premium scale.
—  Training trick: the NN is frozen for 10 epochs while the GLM base stabilises, then gradually unfrozen.
—  Analogy: an experienced actuary sets the base price; a data-science assistant fine-tunes it with hidden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CANN-GBM — CatBoost-Anchored Neural Network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Replacing the GLM anchor with a gradient-boosted model for stronger base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nn_gb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3214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Instead of anchoring to a GLM, CANN-GBM uses CatBoost predictions as the base — capturing non-linear patterns the GLM misses.
—  The neural network learns a multiplicative correction: pred = GBM_pred × exp(clamp(NN_output, –2, 2)).
—  The NN is frozen for 10 epochs while the GBM base stabilises, then gradually unfrozen to fine-tune the correction.
—  Best of both worlds: GBM’s feature interaction discovery combined with the NN’s smooth, differentiable corrections.
—  Ideal when CatBoost already significantly outperforms the GLM — the NN refines rather than replaces the best available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LocalGLMnet — Instance-Specific GLM Coefficients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 neural network that personalises GLM coefficients for each policyholder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alglmn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3214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A standard GLM uses fixed coefficients for all policyholders. LocalGLMnet generates per-sample coefficients βₖ(x) via a neural network.
—  Output = GLM_pred × exp(clamp(Σ βₖ(x) · xₖ, –1, 1)) — a personalised multiplicative adjustment, clamped to ±2.7×.
—  Final layer is zero-initialised so the model starts at the GLM prediction (exp(0) = 1) and gradually learns corrections.
—  Strong L2 regularisation (coeff_reg=1.0) prevents coefficient explosion — the model prefers small, interpretable adjustments.
—  Based on Richman &amp; Wüthrich (2023) — fully interpretable: you can inspect which features were adjusted for each individual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DRN — Distributional Refinement Network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Predicting not just the mean premium, but the full loss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3214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Unlike other models that predict a single premium, DRN outputs full Gamma distribution parameters: shape (α) and rate (β).
—  The mean prediction is shape/rate, but you also get the variance, coefficient of variation, and tail risk (VaR at 95th/99th percentile).
—  Training loss = Gamma NLL + KL divergence from the GLM’s implied distribution — KL regularisation prevents overfitting.
—  Two-headed architecture: shared feature backbone splits into separate heads for shape and rate, each with Softplus activation.
—  Ideal for capital modelling and reinsurance: the model directly estimates tail risk without Monte Carlo simulation.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FT-Transformer — Feature Tokenizer Transformer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Treating each feature like a word in a sentence, then letting them ‘talk’ to each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t_transform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51469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Each input feature (continuous or categorical) is projected into a fixed-size vector — its ‘token’, just like a word in NLP.
—  A special [CLS] token collects information from all features via self-attention across multiple layers.
—  Self-attention lets every feature interact with every other — automatically discovering complex combinations (e.g. age × mileage).
—  The [CLS] token’s final representation is fed through a small MLP to predict the premium (Softplus ensures positive output).
—  Based on Gorishniy et al. (2021) — originally designed for NLP, adapted here for tabular insurance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TabM — Tabular MLP Ensemble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 committee of independent neural networks that vote on the premium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4791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K independent MLPs (default K=16) each see the same input but learn different patterns due to random initialisation.
—  Each MLP: Linear → LayerNorm → GELU → Dropout → … → Softplus (ensures positive premium output).
—  Predictions are combined via learned softmax weights — the model learns which ensemble members to trust most.
—  Diversity comes from random weight initialisation — each MLP converges to a different local optimum in the loss landscape.
—  Analogy: 16 junior pricing analysts each price a risk independently; a senior actuary weighs their opinions.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Architecture Comparison — At a Glance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Three approaches to the same problem: predicting motor insurance premiums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471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CANN-GBM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FT-Trans.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LocalGLMnet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DRN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 + NN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GBM + NN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residual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Feature tokens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Ensemble of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K MLPs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Per-sample GLM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coefficients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Full Gamma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Actuarial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grounding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Strong GBM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Auto feature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interaction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Diversity,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simple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Interpretable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coefficients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Tail risk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estimates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Weaknesses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Limited by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Requires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trained 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Data hungry,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No explicit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Small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corrections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Complex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loss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~139K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~701K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~19K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Small data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+ 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When GBM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&gt;&gt; 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Large data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(100K+)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Quick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iteration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Interpret-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Capital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Insight:  Hybrid architectures (CANN, CANN-GBM, LocalGLMnet) outperform pure DL on 25K rows by leveraging actuarial priors.  DRN adds distributional outputs for capital modelling.  FT-Transformer and TabM (Gini &lt; 0.07) require 10–20× more data to learn the same structural knowledge from scratch.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Gini Comparison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Model Discrimination — Train vs Test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ni_comparis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both outperform the GLM baseline (0.329) by approximately 3pp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achieves 0.326 Gini — near-GLM performance while using only 44K parameters vs GLM’s 73 coefficients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(0.064 Gini, 139K params) slightly outperforms TabM (0.049 Gini, 701K params) but both are near-random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Train–test gap is largest for GBM models, reflecting their higher variance and non-linear complexity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Stacked ensemble (GLM weight=1.0) does not exceed standalone GLM — CANN and TabM weights collapse to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Lorenz Curves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Cumulative Risk Ordering by Model (Test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renz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Lorenz curve shows cumulative actual loss vs cumulative predicted risk, sorted by model score (lowest to highest)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 perfect model bows maximally outward from the 45° diagonal; a random model follows the diagonal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Gini = 2 × (area between model curve and diagonal)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XGBoost (0.360) and CatBoost (0.359) show widest bow — best discrimination among all architectures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Gini 0.329 — strong baseline given only 13 rating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curve overlaps closely with GLM, confirming it learns similar risk structure from the GLM base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curves hug the diagonal, indicating near-random risk ordering at this data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Calibration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Actual vs Expected (A/E) Ratio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libration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19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Policies are sorted by predicted premium and split into 10 equal-sized groups (deciles)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For each decile, the Actual/Expected (A/E) ratio compares observed premium to model 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A/E = 1.0 means perfect calibration; values above 1.0 indicate under-prediction, below means over-prediction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 well-calibrated model should show A/E close to 1.0 across all deciles, not just on average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Green band marks the ±5% calibration zone — models inside this zone are well-calibrated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diverges sharply in decile 10 (A/E 1.50) — it under-predicts the most expensive policies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systematically over-predicts in middle deciles (A/E 0.86–0.95) but is well-calibrated at extremes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shows nearly flat A/E (~1.07 everywhere) — consistent with its near-random Gini of 0.064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A/E Ratio by Decile — All Models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Numerical Comparison Across Risk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554480"/>
                <a:gridCol w="1554480"/>
                <a:gridCol w="1554480"/>
                <a:gridCol w="15544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Decile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1.133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1.303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1.026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1.049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1.001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1.058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0.901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1.497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1.169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1.100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492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GLM: best overall calibration — A/E stays within 0.92–1.17 across all deciles, reflecting the Gamma deviance objective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 (CatBoost): well-calibrated in deciles 1–8 but explodes in decile 10 (A/E 1.50) — tree splits struggle with extreme tail values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CANN: systematic over-prediction in deciles 3–8 (A/E 0.86–0.95), suggesting the GLM base dominates and the NN correction overshoots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TabM: erratic calibration (A/E 0.92–1.26) with no consistent pattern — consistent with near-random discrimination (Gini 0.049)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FT-Transformer: nearly flat A/E (~1.02–1.10) — model cannot differentiate risk, so all deciles look similar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Actual vs Predicted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Test Set Scatter — Best GBM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09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005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How to Read This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Each point represents one test-set policy: X-axis = model’s predicted premium, Y-axis = actual observed premium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diagonal dashed line marks perfect prediction — points on this line are exactly right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Points above the line are under-predicted (actual &gt; predicted); below means over-predicted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widening spread at higher premiums (heteroscedasticity) is expected: high-premium policies are inherently more variable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The heavy right tail in actual premiums (a few very expensive policies) is a fundamental challenge for all model architectures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A good model clusters tightly around the diagonal; systematic bias shows as the cloud shifting above or below the 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Feature Importance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CatBoost SHAP Values — Top Features Driving Premium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04_catboos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51560"/>
            <a:ext cx="9418320" cy="70637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—  SHAP values measure each feature’s marginal contribution to predictions across the dataset.
—  Higher |SHAP| = stronger influence.  The direction (positive / negative) shows the effect on premium.
—  This ranking is from the CatBoost model; CANN and GBM feature effects are shown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LocalGLMnet — Per-Feature Coefficient Analysis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Which features receive the largest per-sample adjustments?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LocalGLMnet coefficient data not available — columns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Each bar shows the average magnitude of the coefficient for that feature across all policyholders.
—  Features with large coefficients receive the biggest per-sample adjustments from the neural network.
—  The coefficients are interpretable: positive = increase premium, negative = decrease premium.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DRN — Distributional Risk Analysis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Full Gamma distribution outputs: coefficient of variation and tail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n_distribu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146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—  The DRN predicts a full Gamma distribution per policyholder, not just a point estimate.
—  CoV (coefficient of variation) measures relative risk uncertainty — higher CoV = more volatile risk.
—  VaR₉₅ gives the 95th percentile loss — critical for capital modelling and reinsurance pricing.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Partial Dependence Plots — GBM &amp; CANN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Top-6 Continuous Variables: CREDIT_SCORE, LICENCEHELD_YEARS, AGE×NCD, MILEAGE_K, VEHICLE_AGE, NCD_CAPPED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GBM (XGBoost) — SHAP Partial Dependence</a:t>
            </a:r>
          </a:p>
        </p:txBody>
      </p:sp>
      <p:pic>
        <p:nvPicPr>
          <p:cNvPr id="5" name="Picture 4" descr="fig11_pdp_to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3568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005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CANN — Neural Network Partial Dependence</a:t>
            </a:r>
          </a:p>
        </p:txBody>
      </p:sp>
      <p:pic>
        <p:nvPicPr>
          <p:cNvPr id="7" name="Picture 6" descr="cann_pdp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19450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GBM PDP uses SHAP dependence for the top-6 continuous features.  CANN PDP shows neural-network partial dependence for the same variables.  FT-Transformer and TabM PDPs were not computed due to near-random discrimination (Gini &lt; 0.07).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Cross-Validation Stability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5-Fold Out-of-Fold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l_14_cv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0515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Cross-Validation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508760"/>
          <a:ext cx="4297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OOF Gini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(mean)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0.3311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Train Gini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0.3528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Val Gini (std)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±0.0039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N folds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3977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Ensemble Weights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4389120"/>
          <a:ext cx="4297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CANN_GBM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FT_TRANSFORMER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LOCALGLMNET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DRN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51206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GLM weight=1.0 in the stacked ensemble indicates that CANN and TabM do not add predictive signal beyond the GLM base at this dataset size.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Computation Time &amp; Hardware Scaling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Training Time by Model — M2 Max vs GPU Cluster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91440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554480"/>
                <a:gridCol w="155448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M2 Max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(25K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(100K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A100 GPU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(500K rows)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0.7s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~0.5s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465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~50s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&lt;1s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CANN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FT-Transformer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139K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1.7hrs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~3hrs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TabM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701K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3.6hrs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~25m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~1.5hrs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~6hrs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77639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GBMs (XGBoost, CatBoost) train in seconds even at 500K rows — GPU acceleration provides marginal benefit for tree methods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FT-Transformer and TabM are 8–10x faster on A100 GPU vs M2 Max CPU due to CUDA parallelism on matrix operations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CANN benefits from GPU but trains quickly regardless — the GLM base is pre-computed, NN only learns residuals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At 500K rows, FT-Transformer and TabM become practical on GPU (3–6 hours) but remain impractical on CPU (est. 2–4 days)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GLM training time is negligible at any scale — IRLS convergence on 73 parameters is near-instant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* M2 Max times are actual measured values. A100 and scaled estimates are projected based on published CPU-to-GPU speedup ratios for each architecture class.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22576"/>
            <a:ext cx="12191695" cy="4535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2286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E"/>
                </a:solidFill>
                <a:latin typeface="Calibri"/>
              </a:rPr>
              <a:t>Why Deep Learning Struggles
on Actuarial Tabular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8"/>
                </a:solidFill>
                <a:latin typeface="Calibri"/>
              </a:rPr>
              <a:t>Five structural challenges at 25K training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1.  Small Dataset (25K Training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Deep learning models require 100K+ rows to learn stable feature interactions. Tree ensembles converge with far fewer observations via greedy splits.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2.  Multiplicative Premium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Insurance premiums follow a multiplicative rating model (base × factors). Log-linear GLMs and GBMs with Gamma objectives directly encode this; neural networks must learn it implicitly.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3.  Heavy-Tailed Gamma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Net premiums span £100–£9,000+. Neural networks default to MSE-like objectives; Gamma deviance loss requires careful tuning that is fragile at small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4.  Mixed Feature Types Need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13 categorical factors (age band, NCD, vehicle class) require entity embeddings. With sparse training data each embedding is poorly estimated, adding noise rather than signal.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5.  Limited Non-Linear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49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 GBM double-lift over GLM is only 1.10x. When the signal is nearly linear-multiplicative, deep learning’s capacity for non-linearity is a liability rather than an asset.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Dataset Scaling &amp; DL vs GBM Crossover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Estimated Gini Trajectory — When Does Deep Learning Start to Win?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ling_by_datas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583680" cy="3909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dominate at 25K rows — multiplicative structure and tree splits are highly data-efficient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GLM plateaus ~0.36 Gini; parametric form caps expressiveness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scales well thanks to the GLM prior; FT-Transformer and TabM need 50K–75K rows to beat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Crossover zone: 100K–500K rows — at 500K, all architectures cluster within 2–3pp Gini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Grinsztajn et al. (2022): GBMs superior on &lt;100K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Gorishniy et al. (2021): FT-Transformer competitive with GBMs only on datasets &gt;250K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Recommendation: revisit DL when portfolio reaches 50K–75K training policies (~2–3 years at current growth)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Industry Case Study</a:t>
            </a:r>
          </a:p>
          <a:p>
            <a:pPr algn="l"/>
            <a:r>
              <a:rPr sz="1300" b="0">
                <a:solidFill>
                  <a:srgbClr val="CCD6E8"/>
                </a:solidFill>
                <a:latin typeface="Calibri"/>
              </a:rPr>
              <a:t>  When ML Pricing Met Real-World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5352" y="1005840"/>
            <a:ext cx="36576" cy="54864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Root Insurance (US Telematics)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ML pricing model based on 31B+ miles of telematics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Raised on AI-first, telematics-only pricing — no traditional factors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Combined ratio: 257% (2021), 215% (2022), 94.2% (Q4 2024)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ML model failed during 2021–2022 inflation shock — historic driving data did not predict repair cost inflation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Recovery required reverting to hybrid: ML telematics score × traditional GLM rate adequacy model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Now profitable, but reinsurance &amp; capital cost was enormous during the transition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73152" cy="539496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Lemonade (AI-First Insurer)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Never disclosed model architecture; “AI” as a marketing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‘AI-first’ underwriting — model internals never publicly disclosed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Gross loss ratio: 90% (2022) → 63% (Q4 2024) — significant improvement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Net combined ratio still ~184% (Q4 2024) after reinsurance — profitable on underwriting but not overall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CEO admits improvement driven primarily by reinsurance restructuring and catastrophe exposure management, not ML</a:t>
            </a:r>
          </a:p>
          <a:p>
            <a:pPr algn="l"/>
            <a:r>
              <a:rPr sz="1100">
                <a:solidFill>
                  <a:srgbClr val="333333"/>
                </a:solidFill>
                <a:latin typeface="Calibri"/>
              </a:rPr>
              <a:t>•  Key lesson: “AI pricing” press releases often obscure traditional actuarial work underneath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  Key Takeaways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035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Discrimination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achieve 0.362 Gini on test, vs GLM baseline 0.329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Deep learning adds no discrimination lift at 25K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closest DL model (0.354), leveraging GLM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96012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96012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9966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CANN is the most promising DL architecture: GLM base + NN residual correction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Pure transformer/MLP models fail to converge on small actuarial datasets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GBMs (XGBoost/CatBoost) are robust, fast, and interpretable via 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DL becomes competitive with GBMs at approximately 100K–250K training rows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FT-Transformer and TabM need 50K+ rows to outperform the GLM baseline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Revisit DL investment when portfolio reaches 50K–75K training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383280"/>
            <a:ext cx="54406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3383280"/>
            <a:ext cx="54406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41985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3E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Deploy XGBoost or CatBoost for production pricing — best Gini, fast inference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Monitor CANN performance as portfolio grows; most likely DL successor</a:t>
            </a:r>
          </a:p>
          <a:p>
            <a:pPr algn="l"/>
            <a:r>
              <a:rPr sz="1000">
                <a:solidFill>
                  <a:srgbClr val="333333"/>
                </a:solidFill>
                <a:latin typeface="Calibri"/>
              </a:rPr>
              <a:t>•  Maintain GLM as regulatory reference model for interpretability and sign-off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3474720"/>
            <a:ext cx="8534095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8963E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Deep Learning vs Gradient Boosting — UK Motor Net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  <a:latin typeface="Calibri"/>
              </a:rPr>
              <a:t>March 2026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963E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